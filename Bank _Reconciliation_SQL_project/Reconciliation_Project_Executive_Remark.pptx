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CC1776-46AD-467D-B17B-DD8B8C80570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40F97E1-8592-4DE7-A3FD-3E4E1DF9D99A}">
      <dgm:prSet/>
      <dgm:spPr/>
      <dgm:t>
        <a:bodyPr/>
        <a:lstStyle/>
        <a:p>
          <a:r>
            <a:rPr lang="en-US"/>
            <a:t>• Compared internal transaction logs with external data sources.</a:t>
          </a:r>
        </a:p>
      </dgm:t>
    </dgm:pt>
    <dgm:pt modelId="{EBAC701D-D6FD-4845-8060-3CF5A2A8F007}" type="parTrans" cxnId="{1E85DC07-724D-4B8A-915B-4B0AA5FB4722}">
      <dgm:prSet/>
      <dgm:spPr/>
      <dgm:t>
        <a:bodyPr/>
        <a:lstStyle/>
        <a:p>
          <a:endParaRPr lang="en-US"/>
        </a:p>
      </dgm:t>
    </dgm:pt>
    <dgm:pt modelId="{652D76E5-69C3-4D48-BA0E-CFD35CAF5198}" type="sibTrans" cxnId="{1E85DC07-724D-4B8A-915B-4B0AA5FB4722}">
      <dgm:prSet/>
      <dgm:spPr/>
      <dgm:t>
        <a:bodyPr/>
        <a:lstStyle/>
        <a:p>
          <a:endParaRPr lang="en-US"/>
        </a:p>
      </dgm:t>
    </dgm:pt>
    <dgm:pt modelId="{EAFCE971-7816-46F2-8853-73576212F8D9}">
      <dgm:prSet/>
      <dgm:spPr/>
      <dgm:t>
        <a:bodyPr/>
        <a:lstStyle/>
        <a:p>
          <a:r>
            <a:rPr lang="en-US"/>
            <a:t>• Identified discrepancies, timing differences, and missing entries.</a:t>
          </a:r>
        </a:p>
      </dgm:t>
    </dgm:pt>
    <dgm:pt modelId="{C9E77B7B-3EB3-4877-9D0A-6551215FAA12}" type="parTrans" cxnId="{2CA374F8-FC1B-46CF-B063-4FAC61519864}">
      <dgm:prSet/>
      <dgm:spPr/>
      <dgm:t>
        <a:bodyPr/>
        <a:lstStyle/>
        <a:p>
          <a:endParaRPr lang="en-US"/>
        </a:p>
      </dgm:t>
    </dgm:pt>
    <dgm:pt modelId="{BE9F9C4C-998D-4329-9D1E-A444AECF2417}" type="sibTrans" cxnId="{2CA374F8-FC1B-46CF-B063-4FAC61519864}">
      <dgm:prSet/>
      <dgm:spPr/>
      <dgm:t>
        <a:bodyPr/>
        <a:lstStyle/>
        <a:p>
          <a:endParaRPr lang="en-US"/>
        </a:p>
      </dgm:t>
    </dgm:pt>
    <dgm:pt modelId="{497C73FB-4943-425C-B18B-F6FC2FB8D809}">
      <dgm:prSet/>
      <dgm:spPr/>
      <dgm:t>
        <a:bodyPr/>
        <a:lstStyle/>
        <a:p>
          <a:r>
            <a:rPr lang="en-US"/>
            <a:t>• Categorized issues by type and financial impact.</a:t>
          </a:r>
        </a:p>
      </dgm:t>
    </dgm:pt>
    <dgm:pt modelId="{472F475A-D79B-4300-B7E8-DF20DE4DA2AC}" type="parTrans" cxnId="{C7EF2846-F1D8-47C3-A55B-496AC805F6A6}">
      <dgm:prSet/>
      <dgm:spPr/>
      <dgm:t>
        <a:bodyPr/>
        <a:lstStyle/>
        <a:p>
          <a:endParaRPr lang="en-US"/>
        </a:p>
      </dgm:t>
    </dgm:pt>
    <dgm:pt modelId="{3EF5C344-E194-4CE9-96DA-AE44262B6BFA}" type="sibTrans" cxnId="{C7EF2846-F1D8-47C3-A55B-496AC805F6A6}">
      <dgm:prSet/>
      <dgm:spPr/>
      <dgm:t>
        <a:bodyPr/>
        <a:lstStyle/>
        <a:p>
          <a:endParaRPr lang="en-US"/>
        </a:p>
      </dgm:t>
    </dgm:pt>
    <dgm:pt modelId="{A0958B82-201C-423C-A183-13CEC371766C}" type="pres">
      <dgm:prSet presAssocID="{41CC1776-46AD-467D-B17B-DD8B8C80570B}" presName="root" presStyleCnt="0">
        <dgm:presLayoutVars>
          <dgm:dir/>
          <dgm:resizeHandles val="exact"/>
        </dgm:presLayoutVars>
      </dgm:prSet>
      <dgm:spPr/>
    </dgm:pt>
    <dgm:pt modelId="{E961C603-2795-4C71-BD35-6740F1E4FDB0}" type="pres">
      <dgm:prSet presAssocID="{340F97E1-8592-4DE7-A3FD-3E4E1DF9D99A}" presName="compNode" presStyleCnt="0"/>
      <dgm:spPr/>
    </dgm:pt>
    <dgm:pt modelId="{47682975-A646-4849-ACA0-9B2C200F70CD}" type="pres">
      <dgm:prSet presAssocID="{340F97E1-8592-4DE7-A3FD-3E4E1DF9D99A}" presName="bgRect" presStyleLbl="bgShp" presStyleIdx="0" presStyleCnt="3"/>
      <dgm:spPr/>
    </dgm:pt>
    <dgm:pt modelId="{CF8FB3A4-2B87-4044-8B46-4DF3B50A93CE}" type="pres">
      <dgm:prSet presAssocID="{340F97E1-8592-4DE7-A3FD-3E4E1DF9D99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DC7FA028-77A4-4F78-9A1C-D19412EF429E}" type="pres">
      <dgm:prSet presAssocID="{340F97E1-8592-4DE7-A3FD-3E4E1DF9D99A}" presName="spaceRect" presStyleCnt="0"/>
      <dgm:spPr/>
    </dgm:pt>
    <dgm:pt modelId="{3B01352A-BEC3-4505-847D-E8155FCD35D2}" type="pres">
      <dgm:prSet presAssocID="{340F97E1-8592-4DE7-A3FD-3E4E1DF9D99A}" presName="parTx" presStyleLbl="revTx" presStyleIdx="0" presStyleCnt="3">
        <dgm:presLayoutVars>
          <dgm:chMax val="0"/>
          <dgm:chPref val="0"/>
        </dgm:presLayoutVars>
      </dgm:prSet>
      <dgm:spPr/>
    </dgm:pt>
    <dgm:pt modelId="{95D90D05-F8E4-4FEF-9A64-BDD4A99CAC69}" type="pres">
      <dgm:prSet presAssocID="{652D76E5-69C3-4D48-BA0E-CFD35CAF5198}" presName="sibTrans" presStyleCnt="0"/>
      <dgm:spPr/>
    </dgm:pt>
    <dgm:pt modelId="{9A483D32-8FBD-45EE-922F-6E221F4EFA00}" type="pres">
      <dgm:prSet presAssocID="{EAFCE971-7816-46F2-8853-73576212F8D9}" presName="compNode" presStyleCnt="0"/>
      <dgm:spPr/>
    </dgm:pt>
    <dgm:pt modelId="{C1B6995A-2C93-4495-B1F0-0E3CFA43E1B7}" type="pres">
      <dgm:prSet presAssocID="{EAFCE971-7816-46F2-8853-73576212F8D9}" presName="bgRect" presStyleLbl="bgShp" presStyleIdx="1" presStyleCnt="3"/>
      <dgm:spPr/>
    </dgm:pt>
    <dgm:pt modelId="{60C360F3-8C70-4DB5-9A05-99D73873F9D4}" type="pres">
      <dgm:prSet presAssocID="{EAFCE971-7816-46F2-8853-73576212F8D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lle"/>
        </a:ext>
      </dgm:extLst>
    </dgm:pt>
    <dgm:pt modelId="{E8F33C18-5E8F-4A4C-ABCD-5601D127E1D0}" type="pres">
      <dgm:prSet presAssocID="{EAFCE971-7816-46F2-8853-73576212F8D9}" presName="spaceRect" presStyleCnt="0"/>
      <dgm:spPr/>
    </dgm:pt>
    <dgm:pt modelId="{31670E2D-2E98-4FAC-A899-910F253C4050}" type="pres">
      <dgm:prSet presAssocID="{EAFCE971-7816-46F2-8853-73576212F8D9}" presName="parTx" presStyleLbl="revTx" presStyleIdx="1" presStyleCnt="3">
        <dgm:presLayoutVars>
          <dgm:chMax val="0"/>
          <dgm:chPref val="0"/>
        </dgm:presLayoutVars>
      </dgm:prSet>
      <dgm:spPr/>
    </dgm:pt>
    <dgm:pt modelId="{8B6DAC2A-7110-4DDE-A27B-6724747ECBDB}" type="pres">
      <dgm:prSet presAssocID="{BE9F9C4C-998D-4329-9D1E-A444AECF2417}" presName="sibTrans" presStyleCnt="0"/>
      <dgm:spPr/>
    </dgm:pt>
    <dgm:pt modelId="{D6571A7F-B6BD-4E51-A5EF-AB43187DCBD3}" type="pres">
      <dgm:prSet presAssocID="{497C73FB-4943-425C-B18B-F6FC2FB8D809}" presName="compNode" presStyleCnt="0"/>
      <dgm:spPr/>
    </dgm:pt>
    <dgm:pt modelId="{8D242539-20DB-4D84-996A-FB1FDBC0EA30}" type="pres">
      <dgm:prSet presAssocID="{497C73FB-4943-425C-B18B-F6FC2FB8D809}" presName="bgRect" presStyleLbl="bgShp" presStyleIdx="2" presStyleCnt="3"/>
      <dgm:spPr/>
    </dgm:pt>
    <dgm:pt modelId="{EC05456F-0BE5-41B4-8710-3C3D3BD6CDC8}" type="pres">
      <dgm:prSet presAssocID="{497C73FB-4943-425C-B18B-F6FC2FB8D80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C4DDE01A-62D9-43B6-B041-327C472729D8}" type="pres">
      <dgm:prSet presAssocID="{497C73FB-4943-425C-B18B-F6FC2FB8D809}" presName="spaceRect" presStyleCnt="0"/>
      <dgm:spPr/>
    </dgm:pt>
    <dgm:pt modelId="{5095DFA1-A7E7-4E54-B1E7-E4E45E41B693}" type="pres">
      <dgm:prSet presAssocID="{497C73FB-4943-425C-B18B-F6FC2FB8D80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E85DC07-724D-4B8A-915B-4B0AA5FB4722}" srcId="{41CC1776-46AD-467D-B17B-DD8B8C80570B}" destId="{340F97E1-8592-4DE7-A3FD-3E4E1DF9D99A}" srcOrd="0" destOrd="0" parTransId="{EBAC701D-D6FD-4845-8060-3CF5A2A8F007}" sibTransId="{652D76E5-69C3-4D48-BA0E-CFD35CAF5198}"/>
    <dgm:cxn modelId="{73D73B26-2AE5-4C4B-84AE-BBCC578BECCA}" type="presOf" srcId="{340F97E1-8592-4DE7-A3FD-3E4E1DF9D99A}" destId="{3B01352A-BEC3-4505-847D-E8155FCD35D2}" srcOrd="0" destOrd="0" presId="urn:microsoft.com/office/officeart/2018/2/layout/IconVerticalSolidList"/>
    <dgm:cxn modelId="{0ADC7427-F14C-4AA9-8996-DD9048D25038}" type="presOf" srcId="{497C73FB-4943-425C-B18B-F6FC2FB8D809}" destId="{5095DFA1-A7E7-4E54-B1E7-E4E45E41B693}" srcOrd="0" destOrd="0" presId="urn:microsoft.com/office/officeart/2018/2/layout/IconVerticalSolidList"/>
    <dgm:cxn modelId="{C7EF2846-F1D8-47C3-A55B-496AC805F6A6}" srcId="{41CC1776-46AD-467D-B17B-DD8B8C80570B}" destId="{497C73FB-4943-425C-B18B-F6FC2FB8D809}" srcOrd="2" destOrd="0" parTransId="{472F475A-D79B-4300-B7E8-DF20DE4DA2AC}" sibTransId="{3EF5C344-E194-4CE9-96DA-AE44262B6BFA}"/>
    <dgm:cxn modelId="{E7340A4A-F8EE-4D16-A8CF-397E640C5F81}" type="presOf" srcId="{41CC1776-46AD-467D-B17B-DD8B8C80570B}" destId="{A0958B82-201C-423C-A183-13CEC371766C}" srcOrd="0" destOrd="0" presId="urn:microsoft.com/office/officeart/2018/2/layout/IconVerticalSolidList"/>
    <dgm:cxn modelId="{5B64DDC3-18CF-48AA-8A15-5F627D0F0E1E}" type="presOf" srcId="{EAFCE971-7816-46F2-8853-73576212F8D9}" destId="{31670E2D-2E98-4FAC-A899-910F253C4050}" srcOrd="0" destOrd="0" presId="urn:microsoft.com/office/officeart/2018/2/layout/IconVerticalSolidList"/>
    <dgm:cxn modelId="{2CA374F8-FC1B-46CF-B063-4FAC61519864}" srcId="{41CC1776-46AD-467D-B17B-DD8B8C80570B}" destId="{EAFCE971-7816-46F2-8853-73576212F8D9}" srcOrd="1" destOrd="0" parTransId="{C9E77B7B-3EB3-4877-9D0A-6551215FAA12}" sibTransId="{BE9F9C4C-998D-4329-9D1E-A444AECF2417}"/>
    <dgm:cxn modelId="{1BB669FA-8151-4351-8C01-72596F46CB16}" type="presParOf" srcId="{A0958B82-201C-423C-A183-13CEC371766C}" destId="{E961C603-2795-4C71-BD35-6740F1E4FDB0}" srcOrd="0" destOrd="0" presId="urn:microsoft.com/office/officeart/2018/2/layout/IconVerticalSolidList"/>
    <dgm:cxn modelId="{FDAB8869-925B-44B9-85E3-7D2EBF2CE74E}" type="presParOf" srcId="{E961C603-2795-4C71-BD35-6740F1E4FDB0}" destId="{47682975-A646-4849-ACA0-9B2C200F70CD}" srcOrd="0" destOrd="0" presId="urn:microsoft.com/office/officeart/2018/2/layout/IconVerticalSolidList"/>
    <dgm:cxn modelId="{4E4C9B17-06EF-4C2A-B47A-68D5F6A6CB1A}" type="presParOf" srcId="{E961C603-2795-4C71-BD35-6740F1E4FDB0}" destId="{CF8FB3A4-2B87-4044-8B46-4DF3B50A93CE}" srcOrd="1" destOrd="0" presId="urn:microsoft.com/office/officeart/2018/2/layout/IconVerticalSolidList"/>
    <dgm:cxn modelId="{9F8CB55D-7B11-4AEA-B6E4-A86F4070A2EC}" type="presParOf" srcId="{E961C603-2795-4C71-BD35-6740F1E4FDB0}" destId="{DC7FA028-77A4-4F78-9A1C-D19412EF429E}" srcOrd="2" destOrd="0" presId="urn:microsoft.com/office/officeart/2018/2/layout/IconVerticalSolidList"/>
    <dgm:cxn modelId="{15146E3F-BB25-4DD2-8674-E4C2BBE9306B}" type="presParOf" srcId="{E961C603-2795-4C71-BD35-6740F1E4FDB0}" destId="{3B01352A-BEC3-4505-847D-E8155FCD35D2}" srcOrd="3" destOrd="0" presId="urn:microsoft.com/office/officeart/2018/2/layout/IconVerticalSolidList"/>
    <dgm:cxn modelId="{CDDF98C6-BA5E-4305-9CED-A796B993BBE2}" type="presParOf" srcId="{A0958B82-201C-423C-A183-13CEC371766C}" destId="{95D90D05-F8E4-4FEF-9A64-BDD4A99CAC69}" srcOrd="1" destOrd="0" presId="urn:microsoft.com/office/officeart/2018/2/layout/IconVerticalSolidList"/>
    <dgm:cxn modelId="{FD1E64DD-9AA1-480A-9E26-6EC9EC8C959D}" type="presParOf" srcId="{A0958B82-201C-423C-A183-13CEC371766C}" destId="{9A483D32-8FBD-45EE-922F-6E221F4EFA00}" srcOrd="2" destOrd="0" presId="urn:microsoft.com/office/officeart/2018/2/layout/IconVerticalSolidList"/>
    <dgm:cxn modelId="{460C53AF-4C26-48D7-A452-2957ED0553D8}" type="presParOf" srcId="{9A483D32-8FBD-45EE-922F-6E221F4EFA00}" destId="{C1B6995A-2C93-4495-B1F0-0E3CFA43E1B7}" srcOrd="0" destOrd="0" presId="urn:microsoft.com/office/officeart/2018/2/layout/IconVerticalSolidList"/>
    <dgm:cxn modelId="{2DA5C22A-42CE-47E3-B0BC-924A81CBEE6B}" type="presParOf" srcId="{9A483D32-8FBD-45EE-922F-6E221F4EFA00}" destId="{60C360F3-8C70-4DB5-9A05-99D73873F9D4}" srcOrd="1" destOrd="0" presId="urn:microsoft.com/office/officeart/2018/2/layout/IconVerticalSolidList"/>
    <dgm:cxn modelId="{3DA248EB-9EE4-4697-9764-0CCB0769D30C}" type="presParOf" srcId="{9A483D32-8FBD-45EE-922F-6E221F4EFA00}" destId="{E8F33C18-5E8F-4A4C-ABCD-5601D127E1D0}" srcOrd="2" destOrd="0" presId="urn:microsoft.com/office/officeart/2018/2/layout/IconVerticalSolidList"/>
    <dgm:cxn modelId="{EF8D20A7-F997-478F-B7C9-1361BD7B4E21}" type="presParOf" srcId="{9A483D32-8FBD-45EE-922F-6E221F4EFA00}" destId="{31670E2D-2E98-4FAC-A899-910F253C4050}" srcOrd="3" destOrd="0" presId="urn:microsoft.com/office/officeart/2018/2/layout/IconVerticalSolidList"/>
    <dgm:cxn modelId="{1AA23DE9-AF8A-46DB-B4BB-7B027391B8DD}" type="presParOf" srcId="{A0958B82-201C-423C-A183-13CEC371766C}" destId="{8B6DAC2A-7110-4DDE-A27B-6724747ECBDB}" srcOrd="3" destOrd="0" presId="urn:microsoft.com/office/officeart/2018/2/layout/IconVerticalSolidList"/>
    <dgm:cxn modelId="{F67E3ABE-8E07-4891-8A2F-35A1F9C6467A}" type="presParOf" srcId="{A0958B82-201C-423C-A183-13CEC371766C}" destId="{D6571A7F-B6BD-4E51-A5EF-AB43187DCBD3}" srcOrd="4" destOrd="0" presId="urn:microsoft.com/office/officeart/2018/2/layout/IconVerticalSolidList"/>
    <dgm:cxn modelId="{60A4971D-6F90-4516-A320-2FB311C02174}" type="presParOf" srcId="{D6571A7F-B6BD-4E51-A5EF-AB43187DCBD3}" destId="{8D242539-20DB-4D84-996A-FB1FDBC0EA30}" srcOrd="0" destOrd="0" presId="urn:microsoft.com/office/officeart/2018/2/layout/IconVerticalSolidList"/>
    <dgm:cxn modelId="{22ECEABA-8645-4A3E-9C3B-38564A5AED5F}" type="presParOf" srcId="{D6571A7F-B6BD-4E51-A5EF-AB43187DCBD3}" destId="{EC05456F-0BE5-41B4-8710-3C3D3BD6CDC8}" srcOrd="1" destOrd="0" presId="urn:microsoft.com/office/officeart/2018/2/layout/IconVerticalSolidList"/>
    <dgm:cxn modelId="{B6531970-D042-4BE6-AFB8-A2ABA24B2DB8}" type="presParOf" srcId="{D6571A7F-B6BD-4E51-A5EF-AB43187DCBD3}" destId="{C4DDE01A-62D9-43B6-B041-327C472729D8}" srcOrd="2" destOrd="0" presId="urn:microsoft.com/office/officeart/2018/2/layout/IconVerticalSolidList"/>
    <dgm:cxn modelId="{FE0AD502-5444-47B8-ABCB-5000C9227563}" type="presParOf" srcId="{D6571A7F-B6BD-4E51-A5EF-AB43187DCBD3}" destId="{5095DFA1-A7E7-4E54-B1E7-E4E45E41B6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1537EC-2BA1-4D55-9CAA-267C0A7ED6A0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DAA3E38-60FD-4DA7-B341-7DFC49BFE291}">
      <dgm:prSet/>
      <dgm:spPr/>
      <dgm:t>
        <a:bodyPr/>
        <a:lstStyle/>
        <a:p>
          <a:r>
            <a:rPr lang="en-US"/>
            <a:t>• Performed data validation checks (duplicates, incorrect values, posting errors).</a:t>
          </a:r>
        </a:p>
      </dgm:t>
    </dgm:pt>
    <dgm:pt modelId="{E31C100F-4C64-4D31-A1C4-F3D13F95E2D9}" type="parTrans" cxnId="{CA651CDE-69B4-4539-AE57-C75B4D508337}">
      <dgm:prSet/>
      <dgm:spPr/>
      <dgm:t>
        <a:bodyPr/>
        <a:lstStyle/>
        <a:p>
          <a:endParaRPr lang="en-US"/>
        </a:p>
      </dgm:t>
    </dgm:pt>
    <dgm:pt modelId="{D7EE69D4-2F87-4804-9F19-F11860EFC257}" type="sibTrans" cxnId="{CA651CDE-69B4-4539-AE57-C75B4D508337}">
      <dgm:prSet/>
      <dgm:spPr/>
      <dgm:t>
        <a:bodyPr/>
        <a:lstStyle/>
        <a:p>
          <a:endParaRPr lang="en-US"/>
        </a:p>
      </dgm:t>
    </dgm:pt>
    <dgm:pt modelId="{25D32786-1915-43DB-A2E8-CE658662DA58}">
      <dgm:prSet/>
      <dgm:spPr/>
      <dgm:t>
        <a:bodyPr/>
        <a:lstStyle/>
        <a:p>
          <a:r>
            <a:rPr lang="en-US"/>
            <a:t>• Created a standardized reconciliation template.</a:t>
          </a:r>
        </a:p>
      </dgm:t>
    </dgm:pt>
    <dgm:pt modelId="{BC0732F6-F1C0-42DC-83E2-8F36C11531A1}" type="parTrans" cxnId="{5D5446CC-AD56-4C6C-AD4A-5194EE68E6AB}">
      <dgm:prSet/>
      <dgm:spPr/>
      <dgm:t>
        <a:bodyPr/>
        <a:lstStyle/>
        <a:p>
          <a:endParaRPr lang="en-US"/>
        </a:p>
      </dgm:t>
    </dgm:pt>
    <dgm:pt modelId="{16CAE400-C0F6-4683-B7A5-700A2B27A22E}" type="sibTrans" cxnId="{5D5446CC-AD56-4C6C-AD4A-5194EE68E6AB}">
      <dgm:prSet/>
      <dgm:spPr/>
      <dgm:t>
        <a:bodyPr/>
        <a:lstStyle/>
        <a:p>
          <a:endParaRPr lang="en-US"/>
        </a:p>
      </dgm:t>
    </dgm:pt>
    <dgm:pt modelId="{2E3E3A08-4927-4887-A76A-4216964427B1}">
      <dgm:prSet/>
      <dgm:spPr/>
      <dgm:t>
        <a:bodyPr/>
        <a:lstStyle/>
        <a:p>
          <a:r>
            <a:rPr lang="en-US"/>
            <a:t>• Collaborated with departments to resolve mismatches.</a:t>
          </a:r>
        </a:p>
      </dgm:t>
    </dgm:pt>
    <dgm:pt modelId="{DA6A3199-CB7E-4F9A-A1F2-302F064D9CC8}" type="parTrans" cxnId="{AB56091C-4324-4318-82AD-D78336FE73F5}">
      <dgm:prSet/>
      <dgm:spPr/>
      <dgm:t>
        <a:bodyPr/>
        <a:lstStyle/>
        <a:p>
          <a:endParaRPr lang="en-US"/>
        </a:p>
      </dgm:t>
    </dgm:pt>
    <dgm:pt modelId="{F37E0FA9-572F-4E33-A22E-69D13CD69B7D}" type="sibTrans" cxnId="{AB56091C-4324-4318-82AD-D78336FE73F5}">
      <dgm:prSet/>
      <dgm:spPr/>
      <dgm:t>
        <a:bodyPr/>
        <a:lstStyle/>
        <a:p>
          <a:endParaRPr lang="en-US"/>
        </a:p>
      </dgm:t>
    </dgm:pt>
    <dgm:pt modelId="{4C627657-71D4-4974-8BEB-9DE2B810FF64}" type="pres">
      <dgm:prSet presAssocID="{361537EC-2BA1-4D55-9CAA-267C0A7ED6A0}" presName="diagram" presStyleCnt="0">
        <dgm:presLayoutVars>
          <dgm:dir/>
          <dgm:resizeHandles val="exact"/>
        </dgm:presLayoutVars>
      </dgm:prSet>
      <dgm:spPr/>
    </dgm:pt>
    <dgm:pt modelId="{2254027B-664A-455F-BE9B-18D40E39EE72}" type="pres">
      <dgm:prSet presAssocID="{3DAA3E38-60FD-4DA7-B341-7DFC49BFE291}" presName="node" presStyleLbl="node1" presStyleIdx="0" presStyleCnt="3">
        <dgm:presLayoutVars>
          <dgm:bulletEnabled val="1"/>
        </dgm:presLayoutVars>
      </dgm:prSet>
      <dgm:spPr/>
    </dgm:pt>
    <dgm:pt modelId="{AF549954-284A-4C6B-8472-C20085D93476}" type="pres">
      <dgm:prSet presAssocID="{D7EE69D4-2F87-4804-9F19-F11860EFC257}" presName="sibTrans" presStyleLbl="sibTrans2D1" presStyleIdx="0" presStyleCnt="2"/>
      <dgm:spPr/>
    </dgm:pt>
    <dgm:pt modelId="{666C1204-71E1-4B13-A1B3-1CCDC20C60F7}" type="pres">
      <dgm:prSet presAssocID="{D7EE69D4-2F87-4804-9F19-F11860EFC257}" presName="connectorText" presStyleLbl="sibTrans2D1" presStyleIdx="0" presStyleCnt="2"/>
      <dgm:spPr/>
    </dgm:pt>
    <dgm:pt modelId="{F7001210-6D46-49F5-900E-5951BE2E5124}" type="pres">
      <dgm:prSet presAssocID="{25D32786-1915-43DB-A2E8-CE658662DA58}" presName="node" presStyleLbl="node1" presStyleIdx="1" presStyleCnt="3">
        <dgm:presLayoutVars>
          <dgm:bulletEnabled val="1"/>
        </dgm:presLayoutVars>
      </dgm:prSet>
      <dgm:spPr/>
    </dgm:pt>
    <dgm:pt modelId="{D1C2C63F-A345-49C4-B8E5-1AC5243AF472}" type="pres">
      <dgm:prSet presAssocID="{16CAE400-C0F6-4683-B7A5-700A2B27A22E}" presName="sibTrans" presStyleLbl="sibTrans2D1" presStyleIdx="1" presStyleCnt="2"/>
      <dgm:spPr/>
    </dgm:pt>
    <dgm:pt modelId="{F80A50D1-D7C3-4F29-9365-689868900F8D}" type="pres">
      <dgm:prSet presAssocID="{16CAE400-C0F6-4683-B7A5-700A2B27A22E}" presName="connectorText" presStyleLbl="sibTrans2D1" presStyleIdx="1" presStyleCnt="2"/>
      <dgm:spPr/>
    </dgm:pt>
    <dgm:pt modelId="{6FF99E0E-DDAB-414C-87E8-709CCCBC743F}" type="pres">
      <dgm:prSet presAssocID="{2E3E3A08-4927-4887-A76A-4216964427B1}" presName="node" presStyleLbl="node1" presStyleIdx="2" presStyleCnt="3">
        <dgm:presLayoutVars>
          <dgm:bulletEnabled val="1"/>
        </dgm:presLayoutVars>
      </dgm:prSet>
      <dgm:spPr/>
    </dgm:pt>
  </dgm:ptLst>
  <dgm:cxnLst>
    <dgm:cxn modelId="{62645F0F-F5DD-48AA-B5A5-FA6CC60CCA98}" type="presOf" srcId="{D7EE69D4-2F87-4804-9F19-F11860EFC257}" destId="{AF549954-284A-4C6B-8472-C20085D93476}" srcOrd="0" destOrd="0" presId="urn:microsoft.com/office/officeart/2005/8/layout/process5"/>
    <dgm:cxn modelId="{0C36CC12-4FEB-43D6-B12B-B96DFBC6EC12}" type="presOf" srcId="{16CAE400-C0F6-4683-B7A5-700A2B27A22E}" destId="{F80A50D1-D7C3-4F29-9365-689868900F8D}" srcOrd="1" destOrd="0" presId="urn:microsoft.com/office/officeart/2005/8/layout/process5"/>
    <dgm:cxn modelId="{AB56091C-4324-4318-82AD-D78336FE73F5}" srcId="{361537EC-2BA1-4D55-9CAA-267C0A7ED6A0}" destId="{2E3E3A08-4927-4887-A76A-4216964427B1}" srcOrd="2" destOrd="0" parTransId="{DA6A3199-CB7E-4F9A-A1F2-302F064D9CC8}" sibTransId="{F37E0FA9-572F-4E33-A22E-69D13CD69B7D}"/>
    <dgm:cxn modelId="{242C6C20-E171-4ED0-A55D-B78FF6D5DADE}" type="presOf" srcId="{3DAA3E38-60FD-4DA7-B341-7DFC49BFE291}" destId="{2254027B-664A-455F-BE9B-18D40E39EE72}" srcOrd="0" destOrd="0" presId="urn:microsoft.com/office/officeart/2005/8/layout/process5"/>
    <dgm:cxn modelId="{0BCD1C7D-9209-4CB9-B7AB-A3919F695100}" type="presOf" srcId="{361537EC-2BA1-4D55-9CAA-267C0A7ED6A0}" destId="{4C627657-71D4-4974-8BEB-9DE2B810FF64}" srcOrd="0" destOrd="0" presId="urn:microsoft.com/office/officeart/2005/8/layout/process5"/>
    <dgm:cxn modelId="{3606D482-D8BA-4327-8453-2793C9C5EC3C}" type="presOf" srcId="{25D32786-1915-43DB-A2E8-CE658662DA58}" destId="{F7001210-6D46-49F5-900E-5951BE2E5124}" srcOrd="0" destOrd="0" presId="urn:microsoft.com/office/officeart/2005/8/layout/process5"/>
    <dgm:cxn modelId="{F8A3598F-3680-473F-86EE-E2A2BAA9E9C2}" type="presOf" srcId="{D7EE69D4-2F87-4804-9F19-F11860EFC257}" destId="{666C1204-71E1-4B13-A1B3-1CCDC20C60F7}" srcOrd="1" destOrd="0" presId="urn:microsoft.com/office/officeart/2005/8/layout/process5"/>
    <dgm:cxn modelId="{D5F72095-7A21-403E-845C-C079E780B523}" type="presOf" srcId="{16CAE400-C0F6-4683-B7A5-700A2B27A22E}" destId="{D1C2C63F-A345-49C4-B8E5-1AC5243AF472}" srcOrd="0" destOrd="0" presId="urn:microsoft.com/office/officeart/2005/8/layout/process5"/>
    <dgm:cxn modelId="{BB8E2CBC-4D51-4F2D-8BFB-1D953ACFCF7F}" type="presOf" srcId="{2E3E3A08-4927-4887-A76A-4216964427B1}" destId="{6FF99E0E-DDAB-414C-87E8-709CCCBC743F}" srcOrd="0" destOrd="0" presId="urn:microsoft.com/office/officeart/2005/8/layout/process5"/>
    <dgm:cxn modelId="{5D5446CC-AD56-4C6C-AD4A-5194EE68E6AB}" srcId="{361537EC-2BA1-4D55-9CAA-267C0A7ED6A0}" destId="{25D32786-1915-43DB-A2E8-CE658662DA58}" srcOrd="1" destOrd="0" parTransId="{BC0732F6-F1C0-42DC-83E2-8F36C11531A1}" sibTransId="{16CAE400-C0F6-4683-B7A5-700A2B27A22E}"/>
    <dgm:cxn modelId="{CA651CDE-69B4-4539-AE57-C75B4D508337}" srcId="{361537EC-2BA1-4D55-9CAA-267C0A7ED6A0}" destId="{3DAA3E38-60FD-4DA7-B341-7DFC49BFE291}" srcOrd="0" destOrd="0" parTransId="{E31C100F-4C64-4D31-A1C4-F3D13F95E2D9}" sibTransId="{D7EE69D4-2F87-4804-9F19-F11860EFC257}"/>
    <dgm:cxn modelId="{869B1C99-146A-44E8-BD76-E7E51F732F91}" type="presParOf" srcId="{4C627657-71D4-4974-8BEB-9DE2B810FF64}" destId="{2254027B-664A-455F-BE9B-18D40E39EE72}" srcOrd="0" destOrd="0" presId="urn:microsoft.com/office/officeart/2005/8/layout/process5"/>
    <dgm:cxn modelId="{57AA0157-7FFD-43E5-956D-07030FD92514}" type="presParOf" srcId="{4C627657-71D4-4974-8BEB-9DE2B810FF64}" destId="{AF549954-284A-4C6B-8472-C20085D93476}" srcOrd="1" destOrd="0" presId="urn:microsoft.com/office/officeart/2005/8/layout/process5"/>
    <dgm:cxn modelId="{85FAB0A6-0BA4-433D-B551-8ED3E086E3DB}" type="presParOf" srcId="{AF549954-284A-4C6B-8472-C20085D93476}" destId="{666C1204-71E1-4B13-A1B3-1CCDC20C60F7}" srcOrd="0" destOrd="0" presId="urn:microsoft.com/office/officeart/2005/8/layout/process5"/>
    <dgm:cxn modelId="{5548E761-BBE5-4345-BA71-69045844C1E4}" type="presParOf" srcId="{4C627657-71D4-4974-8BEB-9DE2B810FF64}" destId="{F7001210-6D46-49F5-900E-5951BE2E5124}" srcOrd="2" destOrd="0" presId="urn:microsoft.com/office/officeart/2005/8/layout/process5"/>
    <dgm:cxn modelId="{34D6A4DD-4EAA-4F6F-A897-51DC65656EDB}" type="presParOf" srcId="{4C627657-71D4-4974-8BEB-9DE2B810FF64}" destId="{D1C2C63F-A345-49C4-B8E5-1AC5243AF472}" srcOrd="3" destOrd="0" presId="urn:microsoft.com/office/officeart/2005/8/layout/process5"/>
    <dgm:cxn modelId="{D644DAEF-6EBC-4D0D-A636-3E008A94D0D1}" type="presParOf" srcId="{D1C2C63F-A345-49C4-B8E5-1AC5243AF472}" destId="{F80A50D1-D7C3-4F29-9365-689868900F8D}" srcOrd="0" destOrd="0" presId="urn:microsoft.com/office/officeart/2005/8/layout/process5"/>
    <dgm:cxn modelId="{41F3C222-E4B4-4108-9D53-688229113287}" type="presParOf" srcId="{4C627657-71D4-4974-8BEB-9DE2B810FF64}" destId="{6FF99E0E-DDAB-414C-87E8-709CCCBC743F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C1AEF9-6455-4C86-8B26-0E42A516821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766FED1-B1F5-4694-AA9F-202F3095C8C7}">
      <dgm:prSet/>
      <dgm:spPr/>
      <dgm:t>
        <a:bodyPr/>
        <a:lstStyle/>
        <a:p>
          <a:r>
            <a:rPr lang="en-US"/>
            <a:t>• Ensured final reconciled records matched internal books and verified external statements.</a:t>
          </a:r>
        </a:p>
      </dgm:t>
    </dgm:pt>
    <dgm:pt modelId="{19DDE5DB-4A28-4590-B8C2-AFB35FDEB606}" type="parTrans" cxnId="{4A2B98B0-00C2-4174-878B-E13BBDFC641B}">
      <dgm:prSet/>
      <dgm:spPr/>
      <dgm:t>
        <a:bodyPr/>
        <a:lstStyle/>
        <a:p>
          <a:endParaRPr lang="en-US"/>
        </a:p>
      </dgm:t>
    </dgm:pt>
    <dgm:pt modelId="{7D13EE6F-D11D-45F2-891D-BB6E229063B3}" type="sibTrans" cxnId="{4A2B98B0-00C2-4174-878B-E13BBDFC641B}">
      <dgm:prSet/>
      <dgm:spPr/>
      <dgm:t>
        <a:bodyPr/>
        <a:lstStyle/>
        <a:p>
          <a:endParaRPr lang="en-US"/>
        </a:p>
      </dgm:t>
    </dgm:pt>
    <dgm:pt modelId="{75C088DB-0267-4203-A1F7-45E175094DD3}">
      <dgm:prSet/>
      <dgm:spPr/>
      <dgm:t>
        <a:bodyPr/>
        <a:lstStyle/>
        <a:p>
          <a:r>
            <a:rPr lang="en-US"/>
            <a:t>• Confirmed overall financial accuracy.</a:t>
          </a:r>
        </a:p>
      </dgm:t>
    </dgm:pt>
    <dgm:pt modelId="{260EF0FB-6736-471B-B1A9-9C12B5039783}" type="parTrans" cxnId="{A007F54A-07D4-4105-BA7A-EEE7DA24DCE7}">
      <dgm:prSet/>
      <dgm:spPr/>
      <dgm:t>
        <a:bodyPr/>
        <a:lstStyle/>
        <a:p>
          <a:endParaRPr lang="en-US"/>
        </a:p>
      </dgm:t>
    </dgm:pt>
    <dgm:pt modelId="{1D0028E0-27CE-4DA9-B7A6-654A558F79C4}" type="sibTrans" cxnId="{A007F54A-07D4-4105-BA7A-EEE7DA24DCE7}">
      <dgm:prSet/>
      <dgm:spPr/>
      <dgm:t>
        <a:bodyPr/>
        <a:lstStyle/>
        <a:p>
          <a:endParaRPr lang="en-US"/>
        </a:p>
      </dgm:t>
    </dgm:pt>
    <dgm:pt modelId="{1EB4DB15-5ED8-4C53-A7BE-44CAA3EEA0CF}" type="pres">
      <dgm:prSet presAssocID="{A8C1AEF9-6455-4C86-8B26-0E42A5168210}" presName="linear" presStyleCnt="0">
        <dgm:presLayoutVars>
          <dgm:animLvl val="lvl"/>
          <dgm:resizeHandles val="exact"/>
        </dgm:presLayoutVars>
      </dgm:prSet>
      <dgm:spPr/>
    </dgm:pt>
    <dgm:pt modelId="{39AC9C71-3F84-4259-8048-F310289E34E4}" type="pres">
      <dgm:prSet presAssocID="{D766FED1-B1F5-4694-AA9F-202F3095C8C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19BB01B-4EAA-428E-81C5-27836CCB5D66}" type="pres">
      <dgm:prSet presAssocID="{7D13EE6F-D11D-45F2-891D-BB6E229063B3}" presName="spacer" presStyleCnt="0"/>
      <dgm:spPr/>
    </dgm:pt>
    <dgm:pt modelId="{633B691E-2916-444A-B0DC-C667F9828072}" type="pres">
      <dgm:prSet presAssocID="{75C088DB-0267-4203-A1F7-45E175094DD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9926F5F-2390-4A9B-BCC0-F7017B77AC0C}" type="presOf" srcId="{A8C1AEF9-6455-4C86-8B26-0E42A5168210}" destId="{1EB4DB15-5ED8-4C53-A7BE-44CAA3EEA0CF}" srcOrd="0" destOrd="0" presId="urn:microsoft.com/office/officeart/2005/8/layout/vList2"/>
    <dgm:cxn modelId="{A007F54A-07D4-4105-BA7A-EEE7DA24DCE7}" srcId="{A8C1AEF9-6455-4C86-8B26-0E42A5168210}" destId="{75C088DB-0267-4203-A1F7-45E175094DD3}" srcOrd="1" destOrd="0" parTransId="{260EF0FB-6736-471B-B1A9-9C12B5039783}" sibTransId="{1D0028E0-27CE-4DA9-B7A6-654A558F79C4}"/>
    <dgm:cxn modelId="{E163949A-DA35-4B65-B162-E46D09A95A7D}" type="presOf" srcId="{75C088DB-0267-4203-A1F7-45E175094DD3}" destId="{633B691E-2916-444A-B0DC-C667F9828072}" srcOrd="0" destOrd="0" presId="urn:microsoft.com/office/officeart/2005/8/layout/vList2"/>
    <dgm:cxn modelId="{4A2B98B0-00C2-4174-878B-E13BBDFC641B}" srcId="{A8C1AEF9-6455-4C86-8B26-0E42A5168210}" destId="{D766FED1-B1F5-4694-AA9F-202F3095C8C7}" srcOrd="0" destOrd="0" parTransId="{19DDE5DB-4A28-4590-B8C2-AFB35FDEB606}" sibTransId="{7D13EE6F-D11D-45F2-891D-BB6E229063B3}"/>
    <dgm:cxn modelId="{B0935BC9-ECB5-4564-9EA7-6B72E712C91F}" type="presOf" srcId="{D766FED1-B1F5-4694-AA9F-202F3095C8C7}" destId="{39AC9C71-3F84-4259-8048-F310289E34E4}" srcOrd="0" destOrd="0" presId="urn:microsoft.com/office/officeart/2005/8/layout/vList2"/>
    <dgm:cxn modelId="{95FF9E66-D33B-4B78-893D-FC96AEF9DA87}" type="presParOf" srcId="{1EB4DB15-5ED8-4C53-A7BE-44CAA3EEA0CF}" destId="{39AC9C71-3F84-4259-8048-F310289E34E4}" srcOrd="0" destOrd="0" presId="urn:microsoft.com/office/officeart/2005/8/layout/vList2"/>
    <dgm:cxn modelId="{4B668EC2-8723-483D-99CA-B4329A1F2D22}" type="presParOf" srcId="{1EB4DB15-5ED8-4C53-A7BE-44CAA3EEA0CF}" destId="{619BB01B-4EAA-428E-81C5-27836CCB5D66}" srcOrd="1" destOrd="0" presId="urn:microsoft.com/office/officeart/2005/8/layout/vList2"/>
    <dgm:cxn modelId="{E6868782-7E8A-4163-AF01-9B1A8BB14E55}" type="presParOf" srcId="{1EB4DB15-5ED8-4C53-A7BE-44CAA3EEA0CF}" destId="{633B691E-2916-444A-B0DC-C667F982807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CD6C617-ECF0-428A-A220-5F3DF192E159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F36A6A4-FA12-4699-ACD3-06CD9918B1B6}">
      <dgm:prSet/>
      <dgm:spPr/>
      <dgm:t>
        <a:bodyPr/>
        <a:lstStyle/>
        <a:p>
          <a:r>
            <a:rPr lang="en-US"/>
            <a:t>• Achieved 100% alignment between internal and external records.</a:t>
          </a:r>
        </a:p>
      </dgm:t>
    </dgm:pt>
    <dgm:pt modelId="{32E44635-91EA-43C9-88DA-C95A2808563E}" type="parTrans" cxnId="{7AFABC65-45F1-49E7-840D-3C3B37B7069E}">
      <dgm:prSet/>
      <dgm:spPr/>
      <dgm:t>
        <a:bodyPr/>
        <a:lstStyle/>
        <a:p>
          <a:endParaRPr lang="en-US"/>
        </a:p>
      </dgm:t>
    </dgm:pt>
    <dgm:pt modelId="{754B7045-E732-4C41-927B-BCC8CEF074B3}" type="sibTrans" cxnId="{7AFABC65-45F1-49E7-840D-3C3B37B7069E}">
      <dgm:prSet/>
      <dgm:spPr/>
      <dgm:t>
        <a:bodyPr/>
        <a:lstStyle/>
        <a:p>
          <a:endParaRPr lang="en-US"/>
        </a:p>
      </dgm:t>
    </dgm:pt>
    <dgm:pt modelId="{E5A95953-CBF9-4B19-AF3C-FFAFD1649AB6}">
      <dgm:prSet/>
      <dgm:spPr/>
      <dgm:t>
        <a:bodyPr/>
        <a:lstStyle/>
        <a:p>
          <a:r>
            <a:rPr lang="en-US"/>
            <a:t>• Increased reliability of financial reporting.</a:t>
          </a:r>
        </a:p>
      </dgm:t>
    </dgm:pt>
    <dgm:pt modelId="{A2537AD7-FA70-4F5F-950C-5A5B0B260061}" type="parTrans" cxnId="{08EBBF15-63B2-4D82-93AD-12593E42F03D}">
      <dgm:prSet/>
      <dgm:spPr/>
      <dgm:t>
        <a:bodyPr/>
        <a:lstStyle/>
        <a:p>
          <a:endParaRPr lang="en-US"/>
        </a:p>
      </dgm:t>
    </dgm:pt>
    <dgm:pt modelId="{B929A549-0940-481E-B5C2-541535AFCF8F}" type="sibTrans" cxnId="{08EBBF15-63B2-4D82-93AD-12593E42F03D}">
      <dgm:prSet/>
      <dgm:spPr/>
      <dgm:t>
        <a:bodyPr/>
        <a:lstStyle/>
        <a:p>
          <a:endParaRPr lang="en-US"/>
        </a:p>
      </dgm:t>
    </dgm:pt>
    <dgm:pt modelId="{D734DB89-480C-4E03-8880-9C6C25F6373D}">
      <dgm:prSet/>
      <dgm:spPr/>
      <dgm:t>
        <a:bodyPr/>
        <a:lstStyle/>
        <a:p>
          <a:r>
            <a:rPr lang="en-US"/>
            <a:t>• Reduced reconciliation time via automation &amp; standardized documentation.</a:t>
          </a:r>
        </a:p>
      </dgm:t>
    </dgm:pt>
    <dgm:pt modelId="{AE09F417-1B31-4B5F-89E9-939A91410484}" type="parTrans" cxnId="{E1B5186B-7FCD-442D-B984-6E36F8236543}">
      <dgm:prSet/>
      <dgm:spPr/>
      <dgm:t>
        <a:bodyPr/>
        <a:lstStyle/>
        <a:p>
          <a:endParaRPr lang="en-US"/>
        </a:p>
      </dgm:t>
    </dgm:pt>
    <dgm:pt modelId="{46CF3866-18AD-4CF1-A08E-A7B2B25AA0CC}" type="sibTrans" cxnId="{E1B5186B-7FCD-442D-B984-6E36F8236543}">
      <dgm:prSet/>
      <dgm:spPr/>
      <dgm:t>
        <a:bodyPr/>
        <a:lstStyle/>
        <a:p>
          <a:endParaRPr lang="en-US"/>
        </a:p>
      </dgm:t>
    </dgm:pt>
    <dgm:pt modelId="{A963EEA9-2EAA-4DE2-BEB6-D7D8ED0F32E5}">
      <dgm:prSet/>
      <dgm:spPr/>
      <dgm:t>
        <a:bodyPr/>
        <a:lstStyle/>
        <a:p>
          <a:r>
            <a:rPr lang="en-US"/>
            <a:t>• Enhanced audit readiness through clear traceability and documentation.</a:t>
          </a:r>
        </a:p>
      </dgm:t>
    </dgm:pt>
    <dgm:pt modelId="{E2D78DD1-4AB8-4780-8ABA-4AB877D42F4A}" type="parTrans" cxnId="{503596C2-02D0-469B-AC46-A89E1844D2C4}">
      <dgm:prSet/>
      <dgm:spPr/>
      <dgm:t>
        <a:bodyPr/>
        <a:lstStyle/>
        <a:p>
          <a:endParaRPr lang="en-US"/>
        </a:p>
      </dgm:t>
    </dgm:pt>
    <dgm:pt modelId="{6EAD3B86-710D-4118-9620-306F3952194C}" type="sibTrans" cxnId="{503596C2-02D0-469B-AC46-A89E1844D2C4}">
      <dgm:prSet/>
      <dgm:spPr/>
      <dgm:t>
        <a:bodyPr/>
        <a:lstStyle/>
        <a:p>
          <a:endParaRPr lang="en-US"/>
        </a:p>
      </dgm:t>
    </dgm:pt>
    <dgm:pt modelId="{05B10FA0-D73E-4902-9FC8-BEB86DF604CC}" type="pres">
      <dgm:prSet presAssocID="{0CD6C617-ECF0-428A-A220-5F3DF192E159}" presName="matrix" presStyleCnt="0">
        <dgm:presLayoutVars>
          <dgm:chMax val="1"/>
          <dgm:dir/>
          <dgm:resizeHandles val="exact"/>
        </dgm:presLayoutVars>
      </dgm:prSet>
      <dgm:spPr/>
    </dgm:pt>
    <dgm:pt modelId="{F8EFD490-7F97-4BE4-9AC1-3345236E55E8}" type="pres">
      <dgm:prSet presAssocID="{0CD6C617-ECF0-428A-A220-5F3DF192E159}" presName="diamond" presStyleLbl="bgShp" presStyleIdx="0" presStyleCnt="1"/>
      <dgm:spPr/>
    </dgm:pt>
    <dgm:pt modelId="{6A85E8AD-3B72-418E-82BE-6B83558E8C79}" type="pres">
      <dgm:prSet presAssocID="{0CD6C617-ECF0-428A-A220-5F3DF192E15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6F06529-1F31-49AC-97F7-1C1BDDE5B363}" type="pres">
      <dgm:prSet presAssocID="{0CD6C617-ECF0-428A-A220-5F3DF192E15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7957F0A-CB4B-472C-A3DD-48C9B3061944}" type="pres">
      <dgm:prSet presAssocID="{0CD6C617-ECF0-428A-A220-5F3DF192E15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37C1974-92E8-485D-AEA5-732B81E9664D}" type="pres">
      <dgm:prSet presAssocID="{0CD6C617-ECF0-428A-A220-5F3DF192E15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8EBBF15-63B2-4D82-93AD-12593E42F03D}" srcId="{0CD6C617-ECF0-428A-A220-5F3DF192E159}" destId="{E5A95953-CBF9-4B19-AF3C-FFAFD1649AB6}" srcOrd="1" destOrd="0" parTransId="{A2537AD7-FA70-4F5F-950C-5A5B0B260061}" sibTransId="{B929A549-0940-481E-B5C2-541535AFCF8F}"/>
    <dgm:cxn modelId="{73ACA229-B590-4AD5-9B36-D1D04683CD61}" type="presOf" srcId="{E5A95953-CBF9-4B19-AF3C-FFAFD1649AB6}" destId="{A6F06529-1F31-49AC-97F7-1C1BDDE5B363}" srcOrd="0" destOrd="0" presId="urn:microsoft.com/office/officeart/2005/8/layout/matrix3"/>
    <dgm:cxn modelId="{BC86BC35-2441-4148-B925-F3F3B64447AC}" type="presOf" srcId="{0CD6C617-ECF0-428A-A220-5F3DF192E159}" destId="{05B10FA0-D73E-4902-9FC8-BEB86DF604CC}" srcOrd="0" destOrd="0" presId="urn:microsoft.com/office/officeart/2005/8/layout/matrix3"/>
    <dgm:cxn modelId="{7AFABC65-45F1-49E7-840D-3C3B37B7069E}" srcId="{0CD6C617-ECF0-428A-A220-5F3DF192E159}" destId="{9F36A6A4-FA12-4699-ACD3-06CD9918B1B6}" srcOrd="0" destOrd="0" parTransId="{32E44635-91EA-43C9-88DA-C95A2808563E}" sibTransId="{754B7045-E732-4C41-927B-BCC8CEF074B3}"/>
    <dgm:cxn modelId="{E1B5186B-7FCD-442D-B984-6E36F8236543}" srcId="{0CD6C617-ECF0-428A-A220-5F3DF192E159}" destId="{D734DB89-480C-4E03-8880-9C6C25F6373D}" srcOrd="2" destOrd="0" parTransId="{AE09F417-1B31-4B5F-89E9-939A91410484}" sibTransId="{46CF3866-18AD-4CF1-A08E-A7B2B25AA0CC}"/>
    <dgm:cxn modelId="{9928B05A-FFCA-4BFC-96BE-96A32CA2B48A}" type="presOf" srcId="{D734DB89-480C-4E03-8880-9C6C25F6373D}" destId="{47957F0A-CB4B-472C-A3DD-48C9B3061944}" srcOrd="0" destOrd="0" presId="urn:microsoft.com/office/officeart/2005/8/layout/matrix3"/>
    <dgm:cxn modelId="{A323E498-8531-4A37-8873-05FA3EB90E8D}" type="presOf" srcId="{A963EEA9-2EAA-4DE2-BEB6-D7D8ED0F32E5}" destId="{137C1974-92E8-485D-AEA5-732B81E9664D}" srcOrd="0" destOrd="0" presId="urn:microsoft.com/office/officeart/2005/8/layout/matrix3"/>
    <dgm:cxn modelId="{503596C2-02D0-469B-AC46-A89E1844D2C4}" srcId="{0CD6C617-ECF0-428A-A220-5F3DF192E159}" destId="{A963EEA9-2EAA-4DE2-BEB6-D7D8ED0F32E5}" srcOrd="3" destOrd="0" parTransId="{E2D78DD1-4AB8-4780-8ABA-4AB877D42F4A}" sibTransId="{6EAD3B86-710D-4118-9620-306F3952194C}"/>
    <dgm:cxn modelId="{68842BDE-2B07-436C-993C-C8553B337CD3}" type="presOf" srcId="{9F36A6A4-FA12-4699-ACD3-06CD9918B1B6}" destId="{6A85E8AD-3B72-418E-82BE-6B83558E8C79}" srcOrd="0" destOrd="0" presId="urn:microsoft.com/office/officeart/2005/8/layout/matrix3"/>
    <dgm:cxn modelId="{929E5593-F688-49E2-9967-415721C69219}" type="presParOf" srcId="{05B10FA0-D73E-4902-9FC8-BEB86DF604CC}" destId="{F8EFD490-7F97-4BE4-9AC1-3345236E55E8}" srcOrd="0" destOrd="0" presId="urn:microsoft.com/office/officeart/2005/8/layout/matrix3"/>
    <dgm:cxn modelId="{99F5B023-23B8-4E8A-AF06-94139D852AE6}" type="presParOf" srcId="{05B10FA0-D73E-4902-9FC8-BEB86DF604CC}" destId="{6A85E8AD-3B72-418E-82BE-6B83558E8C79}" srcOrd="1" destOrd="0" presId="urn:microsoft.com/office/officeart/2005/8/layout/matrix3"/>
    <dgm:cxn modelId="{D00EB1C3-3E9C-4DBB-80C7-9D9F540A625B}" type="presParOf" srcId="{05B10FA0-D73E-4902-9FC8-BEB86DF604CC}" destId="{A6F06529-1F31-49AC-97F7-1C1BDDE5B363}" srcOrd="2" destOrd="0" presId="urn:microsoft.com/office/officeart/2005/8/layout/matrix3"/>
    <dgm:cxn modelId="{B72CD271-06C0-40F8-B9A8-5C43C44E0568}" type="presParOf" srcId="{05B10FA0-D73E-4902-9FC8-BEB86DF604CC}" destId="{47957F0A-CB4B-472C-A3DD-48C9B3061944}" srcOrd="3" destOrd="0" presId="urn:microsoft.com/office/officeart/2005/8/layout/matrix3"/>
    <dgm:cxn modelId="{40DFD99D-3E6C-4724-8B98-DD1F05BA9B35}" type="presParOf" srcId="{05B10FA0-D73E-4902-9FC8-BEB86DF604CC}" destId="{137C1974-92E8-485D-AEA5-732B81E9664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E89F6EE-42D9-4C6E-970B-A6E8388F5B3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3800DAD-39B0-4601-9DCC-575213345155}">
      <dgm:prSet/>
      <dgm:spPr/>
      <dgm:t>
        <a:bodyPr/>
        <a:lstStyle/>
        <a:p>
          <a:r>
            <a:rPr lang="en-US"/>
            <a:t>• Implement automated reconciliation workflows.</a:t>
          </a:r>
        </a:p>
      </dgm:t>
    </dgm:pt>
    <dgm:pt modelId="{5DA216AD-6B19-4840-BF6E-422D6C337E54}" type="parTrans" cxnId="{DD17AE41-C695-432E-9FF4-E46C372C05BE}">
      <dgm:prSet/>
      <dgm:spPr/>
      <dgm:t>
        <a:bodyPr/>
        <a:lstStyle/>
        <a:p>
          <a:endParaRPr lang="en-US"/>
        </a:p>
      </dgm:t>
    </dgm:pt>
    <dgm:pt modelId="{470A9BE9-E0A3-4172-BCDE-236B3C750F62}" type="sibTrans" cxnId="{DD17AE41-C695-432E-9FF4-E46C372C05BE}">
      <dgm:prSet/>
      <dgm:spPr/>
      <dgm:t>
        <a:bodyPr/>
        <a:lstStyle/>
        <a:p>
          <a:endParaRPr lang="en-US"/>
        </a:p>
      </dgm:t>
    </dgm:pt>
    <dgm:pt modelId="{93F9676A-8728-44F6-9355-05BDA265BF55}">
      <dgm:prSet/>
      <dgm:spPr/>
      <dgm:t>
        <a:bodyPr/>
        <a:lstStyle/>
        <a:p>
          <a:r>
            <a:rPr lang="en-US"/>
            <a:t>• Schedule periodic reconciliations.</a:t>
          </a:r>
        </a:p>
      </dgm:t>
    </dgm:pt>
    <dgm:pt modelId="{0E4A7F13-A26F-40CA-8E8A-C87AB1AE9582}" type="parTrans" cxnId="{1A024236-4047-471B-B49D-C9F6A0D1724E}">
      <dgm:prSet/>
      <dgm:spPr/>
      <dgm:t>
        <a:bodyPr/>
        <a:lstStyle/>
        <a:p>
          <a:endParaRPr lang="en-US"/>
        </a:p>
      </dgm:t>
    </dgm:pt>
    <dgm:pt modelId="{6A88C01F-239F-46D8-AC38-821BA4E56888}" type="sibTrans" cxnId="{1A024236-4047-471B-B49D-C9F6A0D1724E}">
      <dgm:prSet/>
      <dgm:spPr/>
      <dgm:t>
        <a:bodyPr/>
        <a:lstStyle/>
        <a:p>
          <a:endParaRPr lang="en-US"/>
        </a:p>
      </dgm:t>
    </dgm:pt>
    <dgm:pt modelId="{C45EA1B0-E694-46A8-81B9-4CF9C052C94B}">
      <dgm:prSet/>
      <dgm:spPr/>
      <dgm:t>
        <a:bodyPr/>
        <a:lstStyle/>
        <a:p>
          <a:r>
            <a:rPr lang="en-US"/>
            <a:t>• Strengthen communication across finance, operations, and compliance.</a:t>
          </a:r>
        </a:p>
      </dgm:t>
    </dgm:pt>
    <dgm:pt modelId="{B70B478A-63AE-42C4-85E1-FAC64CE61AD5}" type="parTrans" cxnId="{5D754023-40E2-4D96-9581-C05DFE3A8F46}">
      <dgm:prSet/>
      <dgm:spPr/>
      <dgm:t>
        <a:bodyPr/>
        <a:lstStyle/>
        <a:p>
          <a:endParaRPr lang="en-US"/>
        </a:p>
      </dgm:t>
    </dgm:pt>
    <dgm:pt modelId="{35A4D8AF-2947-4326-B336-A1754B1967FE}" type="sibTrans" cxnId="{5D754023-40E2-4D96-9581-C05DFE3A8F46}">
      <dgm:prSet/>
      <dgm:spPr/>
      <dgm:t>
        <a:bodyPr/>
        <a:lstStyle/>
        <a:p>
          <a:endParaRPr lang="en-US"/>
        </a:p>
      </dgm:t>
    </dgm:pt>
    <dgm:pt modelId="{CAB96730-57F2-4886-8812-8674C5D6656E}">
      <dgm:prSet/>
      <dgm:spPr/>
      <dgm:t>
        <a:bodyPr/>
        <a:lstStyle/>
        <a:p>
          <a:r>
            <a:rPr lang="en-US"/>
            <a:t>• Introduce variance thresholds for faster escalation.</a:t>
          </a:r>
        </a:p>
      </dgm:t>
    </dgm:pt>
    <dgm:pt modelId="{63EFC046-204E-41DC-BE11-DFB2B1C9D84C}" type="parTrans" cxnId="{9187546C-D441-416E-8153-02B73778F8FF}">
      <dgm:prSet/>
      <dgm:spPr/>
      <dgm:t>
        <a:bodyPr/>
        <a:lstStyle/>
        <a:p>
          <a:endParaRPr lang="en-US"/>
        </a:p>
      </dgm:t>
    </dgm:pt>
    <dgm:pt modelId="{0D5CE077-4570-449D-96FD-53FC29D8F98B}" type="sibTrans" cxnId="{9187546C-D441-416E-8153-02B73778F8FF}">
      <dgm:prSet/>
      <dgm:spPr/>
      <dgm:t>
        <a:bodyPr/>
        <a:lstStyle/>
        <a:p>
          <a:endParaRPr lang="en-US"/>
        </a:p>
      </dgm:t>
    </dgm:pt>
    <dgm:pt modelId="{C221A2AE-58BB-40E3-8E23-CC375FBA700C}" type="pres">
      <dgm:prSet presAssocID="{9E89F6EE-42D9-4C6E-970B-A6E8388F5B38}" presName="root" presStyleCnt="0">
        <dgm:presLayoutVars>
          <dgm:dir/>
          <dgm:resizeHandles val="exact"/>
        </dgm:presLayoutVars>
      </dgm:prSet>
      <dgm:spPr/>
    </dgm:pt>
    <dgm:pt modelId="{FDCFD44F-EB31-4912-8E85-7B6FD6251096}" type="pres">
      <dgm:prSet presAssocID="{63800DAD-39B0-4601-9DCC-575213345155}" presName="compNode" presStyleCnt="0"/>
      <dgm:spPr/>
    </dgm:pt>
    <dgm:pt modelId="{3E047DE4-2DF6-4FD7-8F24-15055D445A74}" type="pres">
      <dgm:prSet presAssocID="{63800DAD-39B0-4601-9DCC-575213345155}" presName="bgRect" presStyleLbl="bgShp" presStyleIdx="0" presStyleCnt="4"/>
      <dgm:spPr/>
    </dgm:pt>
    <dgm:pt modelId="{FCFA5603-FD3F-4A44-8B9D-B272E2CFC3E2}" type="pres">
      <dgm:prSet presAssocID="{63800DAD-39B0-4601-9DCC-57521334515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64671A0-49D5-4BF7-AB81-210D02B815EF}" type="pres">
      <dgm:prSet presAssocID="{63800DAD-39B0-4601-9DCC-575213345155}" presName="spaceRect" presStyleCnt="0"/>
      <dgm:spPr/>
    </dgm:pt>
    <dgm:pt modelId="{DD42FA98-FBB6-4C76-A1DD-42BF9718155B}" type="pres">
      <dgm:prSet presAssocID="{63800DAD-39B0-4601-9DCC-575213345155}" presName="parTx" presStyleLbl="revTx" presStyleIdx="0" presStyleCnt="4">
        <dgm:presLayoutVars>
          <dgm:chMax val="0"/>
          <dgm:chPref val="0"/>
        </dgm:presLayoutVars>
      </dgm:prSet>
      <dgm:spPr/>
    </dgm:pt>
    <dgm:pt modelId="{01C602AC-827D-4BC8-81FA-3FD2CB4229D3}" type="pres">
      <dgm:prSet presAssocID="{470A9BE9-E0A3-4172-BCDE-236B3C750F62}" presName="sibTrans" presStyleCnt="0"/>
      <dgm:spPr/>
    </dgm:pt>
    <dgm:pt modelId="{9039CF08-7B8C-4056-92E5-50B4DAD41AEB}" type="pres">
      <dgm:prSet presAssocID="{93F9676A-8728-44F6-9355-05BDA265BF55}" presName="compNode" presStyleCnt="0"/>
      <dgm:spPr/>
    </dgm:pt>
    <dgm:pt modelId="{111ED9DA-DCED-4E1B-A17E-95AE1310FF29}" type="pres">
      <dgm:prSet presAssocID="{93F9676A-8728-44F6-9355-05BDA265BF55}" presName="bgRect" presStyleLbl="bgShp" presStyleIdx="1" presStyleCnt="4"/>
      <dgm:spPr/>
    </dgm:pt>
    <dgm:pt modelId="{B88E090F-3098-4465-BF1A-8FE23B573333}" type="pres">
      <dgm:prSet presAssocID="{93F9676A-8728-44F6-9355-05BDA265BF5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85CCD639-3225-49EB-B4EB-920C215B32E0}" type="pres">
      <dgm:prSet presAssocID="{93F9676A-8728-44F6-9355-05BDA265BF55}" presName="spaceRect" presStyleCnt="0"/>
      <dgm:spPr/>
    </dgm:pt>
    <dgm:pt modelId="{96ED539C-8755-4975-9724-8BA6A2F5EA04}" type="pres">
      <dgm:prSet presAssocID="{93F9676A-8728-44F6-9355-05BDA265BF55}" presName="parTx" presStyleLbl="revTx" presStyleIdx="1" presStyleCnt="4">
        <dgm:presLayoutVars>
          <dgm:chMax val="0"/>
          <dgm:chPref val="0"/>
        </dgm:presLayoutVars>
      </dgm:prSet>
      <dgm:spPr/>
    </dgm:pt>
    <dgm:pt modelId="{62A42C6D-3983-4E96-BAC8-991B131B686D}" type="pres">
      <dgm:prSet presAssocID="{6A88C01F-239F-46D8-AC38-821BA4E56888}" presName="sibTrans" presStyleCnt="0"/>
      <dgm:spPr/>
    </dgm:pt>
    <dgm:pt modelId="{66E35288-32C9-4B9C-A58D-1C2B5F346B2E}" type="pres">
      <dgm:prSet presAssocID="{C45EA1B0-E694-46A8-81B9-4CF9C052C94B}" presName="compNode" presStyleCnt="0"/>
      <dgm:spPr/>
    </dgm:pt>
    <dgm:pt modelId="{11340E0B-159F-4E17-A5B9-E6580660A151}" type="pres">
      <dgm:prSet presAssocID="{C45EA1B0-E694-46A8-81B9-4CF9C052C94B}" presName="bgRect" presStyleLbl="bgShp" presStyleIdx="2" presStyleCnt="4"/>
      <dgm:spPr/>
    </dgm:pt>
    <dgm:pt modelId="{2B285D80-9956-4FD2-B43C-EF0B61DE0798}" type="pres">
      <dgm:prSet presAssocID="{C45EA1B0-E694-46A8-81B9-4CF9C052C94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60A467B-0FBB-406A-AF81-1BEE230E36A9}" type="pres">
      <dgm:prSet presAssocID="{C45EA1B0-E694-46A8-81B9-4CF9C052C94B}" presName="spaceRect" presStyleCnt="0"/>
      <dgm:spPr/>
    </dgm:pt>
    <dgm:pt modelId="{4CF4A95F-E918-43A3-8640-EB498BDB1732}" type="pres">
      <dgm:prSet presAssocID="{C45EA1B0-E694-46A8-81B9-4CF9C052C94B}" presName="parTx" presStyleLbl="revTx" presStyleIdx="2" presStyleCnt="4">
        <dgm:presLayoutVars>
          <dgm:chMax val="0"/>
          <dgm:chPref val="0"/>
        </dgm:presLayoutVars>
      </dgm:prSet>
      <dgm:spPr/>
    </dgm:pt>
    <dgm:pt modelId="{9987BDB7-9BDC-4EC5-81E1-5FD0F667AD35}" type="pres">
      <dgm:prSet presAssocID="{35A4D8AF-2947-4326-B336-A1754B1967FE}" presName="sibTrans" presStyleCnt="0"/>
      <dgm:spPr/>
    </dgm:pt>
    <dgm:pt modelId="{700F361D-D615-4695-B2A7-5680CEEEC3F6}" type="pres">
      <dgm:prSet presAssocID="{CAB96730-57F2-4886-8812-8674C5D6656E}" presName="compNode" presStyleCnt="0"/>
      <dgm:spPr/>
    </dgm:pt>
    <dgm:pt modelId="{669F1CD9-6874-4C11-AFE7-2CD9953D614F}" type="pres">
      <dgm:prSet presAssocID="{CAB96730-57F2-4886-8812-8674C5D6656E}" presName="bgRect" presStyleLbl="bgShp" presStyleIdx="3" presStyleCnt="4"/>
      <dgm:spPr/>
    </dgm:pt>
    <dgm:pt modelId="{797C1721-CDF1-4766-8A00-B689FD43CC48}" type="pres">
      <dgm:prSet presAssocID="{CAB96730-57F2-4886-8812-8674C5D6656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19E5C7A1-AFBE-41EE-96F9-1EB97F31A109}" type="pres">
      <dgm:prSet presAssocID="{CAB96730-57F2-4886-8812-8674C5D6656E}" presName="spaceRect" presStyleCnt="0"/>
      <dgm:spPr/>
    </dgm:pt>
    <dgm:pt modelId="{12067AFD-8778-4E49-A4DC-905C04442432}" type="pres">
      <dgm:prSet presAssocID="{CAB96730-57F2-4886-8812-8674C5D6656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D754023-40E2-4D96-9581-C05DFE3A8F46}" srcId="{9E89F6EE-42D9-4C6E-970B-A6E8388F5B38}" destId="{C45EA1B0-E694-46A8-81B9-4CF9C052C94B}" srcOrd="2" destOrd="0" parTransId="{B70B478A-63AE-42C4-85E1-FAC64CE61AD5}" sibTransId="{35A4D8AF-2947-4326-B336-A1754B1967FE}"/>
    <dgm:cxn modelId="{1A024236-4047-471B-B49D-C9F6A0D1724E}" srcId="{9E89F6EE-42D9-4C6E-970B-A6E8388F5B38}" destId="{93F9676A-8728-44F6-9355-05BDA265BF55}" srcOrd="1" destOrd="0" parTransId="{0E4A7F13-A26F-40CA-8E8A-C87AB1AE9582}" sibTransId="{6A88C01F-239F-46D8-AC38-821BA4E56888}"/>
    <dgm:cxn modelId="{DD17AE41-C695-432E-9FF4-E46C372C05BE}" srcId="{9E89F6EE-42D9-4C6E-970B-A6E8388F5B38}" destId="{63800DAD-39B0-4601-9DCC-575213345155}" srcOrd="0" destOrd="0" parTransId="{5DA216AD-6B19-4840-BF6E-422D6C337E54}" sibTransId="{470A9BE9-E0A3-4172-BCDE-236B3C750F62}"/>
    <dgm:cxn modelId="{9187546C-D441-416E-8153-02B73778F8FF}" srcId="{9E89F6EE-42D9-4C6E-970B-A6E8388F5B38}" destId="{CAB96730-57F2-4886-8812-8674C5D6656E}" srcOrd="3" destOrd="0" parTransId="{63EFC046-204E-41DC-BE11-DFB2B1C9D84C}" sibTransId="{0D5CE077-4570-449D-96FD-53FC29D8F98B}"/>
    <dgm:cxn modelId="{993CD96C-A667-41AF-B9C6-63C7FF932D49}" type="presOf" srcId="{63800DAD-39B0-4601-9DCC-575213345155}" destId="{DD42FA98-FBB6-4C76-A1DD-42BF9718155B}" srcOrd="0" destOrd="0" presId="urn:microsoft.com/office/officeart/2018/2/layout/IconVerticalSolidList"/>
    <dgm:cxn modelId="{A9F7EA81-8B59-420B-9CCF-0F0BBBEEC984}" type="presOf" srcId="{9E89F6EE-42D9-4C6E-970B-A6E8388F5B38}" destId="{C221A2AE-58BB-40E3-8E23-CC375FBA700C}" srcOrd="0" destOrd="0" presId="urn:microsoft.com/office/officeart/2018/2/layout/IconVerticalSolidList"/>
    <dgm:cxn modelId="{23A203AF-61AB-44C0-820D-D3A261BD0D95}" type="presOf" srcId="{93F9676A-8728-44F6-9355-05BDA265BF55}" destId="{96ED539C-8755-4975-9724-8BA6A2F5EA04}" srcOrd="0" destOrd="0" presId="urn:microsoft.com/office/officeart/2018/2/layout/IconVerticalSolidList"/>
    <dgm:cxn modelId="{C79364C4-DEA9-446C-B1E2-351DED010143}" type="presOf" srcId="{C45EA1B0-E694-46A8-81B9-4CF9C052C94B}" destId="{4CF4A95F-E918-43A3-8640-EB498BDB1732}" srcOrd="0" destOrd="0" presId="urn:microsoft.com/office/officeart/2018/2/layout/IconVerticalSolidList"/>
    <dgm:cxn modelId="{5F170EC6-C577-45F5-9C6F-87DF088BF8D1}" type="presOf" srcId="{CAB96730-57F2-4886-8812-8674C5D6656E}" destId="{12067AFD-8778-4E49-A4DC-905C04442432}" srcOrd="0" destOrd="0" presId="urn:microsoft.com/office/officeart/2018/2/layout/IconVerticalSolidList"/>
    <dgm:cxn modelId="{0AB23BDE-CE2B-4C8D-9769-91A0C158A920}" type="presParOf" srcId="{C221A2AE-58BB-40E3-8E23-CC375FBA700C}" destId="{FDCFD44F-EB31-4912-8E85-7B6FD6251096}" srcOrd="0" destOrd="0" presId="urn:microsoft.com/office/officeart/2018/2/layout/IconVerticalSolidList"/>
    <dgm:cxn modelId="{D07109ED-6E50-4868-A5DE-395B4EF5B683}" type="presParOf" srcId="{FDCFD44F-EB31-4912-8E85-7B6FD6251096}" destId="{3E047DE4-2DF6-4FD7-8F24-15055D445A74}" srcOrd="0" destOrd="0" presId="urn:microsoft.com/office/officeart/2018/2/layout/IconVerticalSolidList"/>
    <dgm:cxn modelId="{790A1071-BCB5-4621-8401-0DE9663DAD45}" type="presParOf" srcId="{FDCFD44F-EB31-4912-8E85-7B6FD6251096}" destId="{FCFA5603-FD3F-4A44-8B9D-B272E2CFC3E2}" srcOrd="1" destOrd="0" presId="urn:microsoft.com/office/officeart/2018/2/layout/IconVerticalSolidList"/>
    <dgm:cxn modelId="{CAD83A7A-1C65-436A-A07D-B219695511A1}" type="presParOf" srcId="{FDCFD44F-EB31-4912-8E85-7B6FD6251096}" destId="{764671A0-49D5-4BF7-AB81-210D02B815EF}" srcOrd="2" destOrd="0" presId="urn:microsoft.com/office/officeart/2018/2/layout/IconVerticalSolidList"/>
    <dgm:cxn modelId="{A15A9741-07AA-4418-A344-362E08341847}" type="presParOf" srcId="{FDCFD44F-EB31-4912-8E85-7B6FD6251096}" destId="{DD42FA98-FBB6-4C76-A1DD-42BF9718155B}" srcOrd="3" destOrd="0" presId="urn:microsoft.com/office/officeart/2018/2/layout/IconVerticalSolidList"/>
    <dgm:cxn modelId="{C7D274E2-A638-4605-B417-50EBE4DCD1EB}" type="presParOf" srcId="{C221A2AE-58BB-40E3-8E23-CC375FBA700C}" destId="{01C602AC-827D-4BC8-81FA-3FD2CB4229D3}" srcOrd="1" destOrd="0" presId="urn:microsoft.com/office/officeart/2018/2/layout/IconVerticalSolidList"/>
    <dgm:cxn modelId="{D05C21AF-136E-420E-9D52-29A2F1280ABA}" type="presParOf" srcId="{C221A2AE-58BB-40E3-8E23-CC375FBA700C}" destId="{9039CF08-7B8C-4056-92E5-50B4DAD41AEB}" srcOrd="2" destOrd="0" presId="urn:microsoft.com/office/officeart/2018/2/layout/IconVerticalSolidList"/>
    <dgm:cxn modelId="{A0DAD192-5BBE-4719-B940-258CBAFC193A}" type="presParOf" srcId="{9039CF08-7B8C-4056-92E5-50B4DAD41AEB}" destId="{111ED9DA-DCED-4E1B-A17E-95AE1310FF29}" srcOrd="0" destOrd="0" presId="urn:microsoft.com/office/officeart/2018/2/layout/IconVerticalSolidList"/>
    <dgm:cxn modelId="{8856E1A2-6099-4FFA-99DD-687FB62F1CAB}" type="presParOf" srcId="{9039CF08-7B8C-4056-92E5-50B4DAD41AEB}" destId="{B88E090F-3098-4465-BF1A-8FE23B573333}" srcOrd="1" destOrd="0" presId="urn:microsoft.com/office/officeart/2018/2/layout/IconVerticalSolidList"/>
    <dgm:cxn modelId="{DD3DF2F9-0785-43AD-AD30-C2FABDA3460C}" type="presParOf" srcId="{9039CF08-7B8C-4056-92E5-50B4DAD41AEB}" destId="{85CCD639-3225-49EB-B4EB-920C215B32E0}" srcOrd="2" destOrd="0" presId="urn:microsoft.com/office/officeart/2018/2/layout/IconVerticalSolidList"/>
    <dgm:cxn modelId="{B9C3FA8C-CB72-44F0-AFB2-22CC63AE1353}" type="presParOf" srcId="{9039CF08-7B8C-4056-92E5-50B4DAD41AEB}" destId="{96ED539C-8755-4975-9724-8BA6A2F5EA04}" srcOrd="3" destOrd="0" presId="urn:microsoft.com/office/officeart/2018/2/layout/IconVerticalSolidList"/>
    <dgm:cxn modelId="{7C93F4D2-8B33-41BD-B9A2-E047BC3BBDED}" type="presParOf" srcId="{C221A2AE-58BB-40E3-8E23-CC375FBA700C}" destId="{62A42C6D-3983-4E96-BAC8-991B131B686D}" srcOrd="3" destOrd="0" presId="urn:microsoft.com/office/officeart/2018/2/layout/IconVerticalSolidList"/>
    <dgm:cxn modelId="{1B214B68-043E-4984-B741-6DC35B7007A3}" type="presParOf" srcId="{C221A2AE-58BB-40E3-8E23-CC375FBA700C}" destId="{66E35288-32C9-4B9C-A58D-1C2B5F346B2E}" srcOrd="4" destOrd="0" presId="urn:microsoft.com/office/officeart/2018/2/layout/IconVerticalSolidList"/>
    <dgm:cxn modelId="{60CED55B-5B01-40A7-91A6-DAF3D65DEB0C}" type="presParOf" srcId="{66E35288-32C9-4B9C-A58D-1C2B5F346B2E}" destId="{11340E0B-159F-4E17-A5B9-E6580660A151}" srcOrd="0" destOrd="0" presId="urn:microsoft.com/office/officeart/2018/2/layout/IconVerticalSolidList"/>
    <dgm:cxn modelId="{F6C15E4F-14E4-4943-BB1F-83E92EC5F3B6}" type="presParOf" srcId="{66E35288-32C9-4B9C-A58D-1C2B5F346B2E}" destId="{2B285D80-9956-4FD2-B43C-EF0B61DE0798}" srcOrd="1" destOrd="0" presId="urn:microsoft.com/office/officeart/2018/2/layout/IconVerticalSolidList"/>
    <dgm:cxn modelId="{2DA28A04-CE57-4A85-95D2-44A9B9FE207F}" type="presParOf" srcId="{66E35288-32C9-4B9C-A58D-1C2B5F346B2E}" destId="{860A467B-0FBB-406A-AF81-1BEE230E36A9}" srcOrd="2" destOrd="0" presId="urn:microsoft.com/office/officeart/2018/2/layout/IconVerticalSolidList"/>
    <dgm:cxn modelId="{A9AFB427-24AF-4B9D-A016-B9824EB6FDCD}" type="presParOf" srcId="{66E35288-32C9-4B9C-A58D-1C2B5F346B2E}" destId="{4CF4A95F-E918-43A3-8640-EB498BDB1732}" srcOrd="3" destOrd="0" presId="urn:microsoft.com/office/officeart/2018/2/layout/IconVerticalSolidList"/>
    <dgm:cxn modelId="{5438A887-D23A-4552-A56F-66DE962D4899}" type="presParOf" srcId="{C221A2AE-58BB-40E3-8E23-CC375FBA700C}" destId="{9987BDB7-9BDC-4EC5-81E1-5FD0F667AD35}" srcOrd="5" destOrd="0" presId="urn:microsoft.com/office/officeart/2018/2/layout/IconVerticalSolidList"/>
    <dgm:cxn modelId="{3D8A607C-6E7B-4071-92C3-44B49E478CB3}" type="presParOf" srcId="{C221A2AE-58BB-40E3-8E23-CC375FBA700C}" destId="{700F361D-D615-4695-B2A7-5680CEEEC3F6}" srcOrd="6" destOrd="0" presId="urn:microsoft.com/office/officeart/2018/2/layout/IconVerticalSolidList"/>
    <dgm:cxn modelId="{3E3A3E06-2EAF-40E9-81CD-17B045545BB3}" type="presParOf" srcId="{700F361D-D615-4695-B2A7-5680CEEEC3F6}" destId="{669F1CD9-6874-4C11-AFE7-2CD9953D614F}" srcOrd="0" destOrd="0" presId="urn:microsoft.com/office/officeart/2018/2/layout/IconVerticalSolidList"/>
    <dgm:cxn modelId="{DDED1594-5565-42D8-9E05-445ACA99BAAF}" type="presParOf" srcId="{700F361D-D615-4695-B2A7-5680CEEEC3F6}" destId="{797C1721-CDF1-4766-8A00-B689FD43CC48}" srcOrd="1" destOrd="0" presId="urn:microsoft.com/office/officeart/2018/2/layout/IconVerticalSolidList"/>
    <dgm:cxn modelId="{8D9772E7-6A7C-404B-AB69-AAC014219AA2}" type="presParOf" srcId="{700F361D-D615-4695-B2A7-5680CEEEC3F6}" destId="{19E5C7A1-AFBE-41EE-96F9-1EB97F31A109}" srcOrd="2" destOrd="0" presId="urn:microsoft.com/office/officeart/2018/2/layout/IconVerticalSolidList"/>
    <dgm:cxn modelId="{7B1DC090-7A39-4483-9186-83A01F00A043}" type="presParOf" srcId="{700F361D-D615-4695-B2A7-5680CEEEC3F6}" destId="{12067AFD-8778-4E49-A4DC-905C0444243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682975-A646-4849-ACA0-9B2C200F70CD}">
      <dsp:nvSpPr>
        <dsp:cNvPr id="0" name=""/>
        <dsp:cNvSpPr/>
      </dsp:nvSpPr>
      <dsp:spPr>
        <a:xfrm>
          <a:off x="0" y="603"/>
          <a:ext cx="4947047" cy="14116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8FB3A4-2B87-4044-8B46-4DF3B50A93CE}">
      <dsp:nvSpPr>
        <dsp:cNvPr id="0" name=""/>
        <dsp:cNvSpPr/>
      </dsp:nvSpPr>
      <dsp:spPr>
        <a:xfrm>
          <a:off x="427016" y="318218"/>
          <a:ext cx="776392" cy="776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01352A-BEC3-4505-847D-E8155FCD35D2}">
      <dsp:nvSpPr>
        <dsp:cNvPr id="0" name=""/>
        <dsp:cNvSpPr/>
      </dsp:nvSpPr>
      <dsp:spPr>
        <a:xfrm>
          <a:off x="1630424" y="603"/>
          <a:ext cx="3316622" cy="1411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97" tIns="149397" rIns="149397" bIns="149397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Compared internal transaction logs with external data sources.</a:t>
          </a:r>
        </a:p>
      </dsp:txBody>
      <dsp:txXfrm>
        <a:off x="1630424" y="603"/>
        <a:ext cx="3316622" cy="1411623"/>
      </dsp:txXfrm>
    </dsp:sp>
    <dsp:sp modelId="{C1B6995A-2C93-4495-B1F0-0E3CFA43E1B7}">
      <dsp:nvSpPr>
        <dsp:cNvPr id="0" name=""/>
        <dsp:cNvSpPr/>
      </dsp:nvSpPr>
      <dsp:spPr>
        <a:xfrm>
          <a:off x="0" y="1765132"/>
          <a:ext cx="4947047" cy="14116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C360F3-8C70-4DB5-9A05-99D73873F9D4}">
      <dsp:nvSpPr>
        <dsp:cNvPr id="0" name=""/>
        <dsp:cNvSpPr/>
      </dsp:nvSpPr>
      <dsp:spPr>
        <a:xfrm>
          <a:off x="427016" y="2082747"/>
          <a:ext cx="776392" cy="776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670E2D-2E98-4FAC-A899-910F253C4050}">
      <dsp:nvSpPr>
        <dsp:cNvPr id="0" name=""/>
        <dsp:cNvSpPr/>
      </dsp:nvSpPr>
      <dsp:spPr>
        <a:xfrm>
          <a:off x="1630424" y="1765132"/>
          <a:ext cx="3316622" cy="1411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97" tIns="149397" rIns="149397" bIns="149397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Identified discrepancies, timing differences, and missing entries.</a:t>
          </a:r>
        </a:p>
      </dsp:txBody>
      <dsp:txXfrm>
        <a:off x="1630424" y="1765132"/>
        <a:ext cx="3316622" cy="1411623"/>
      </dsp:txXfrm>
    </dsp:sp>
    <dsp:sp modelId="{8D242539-20DB-4D84-996A-FB1FDBC0EA30}">
      <dsp:nvSpPr>
        <dsp:cNvPr id="0" name=""/>
        <dsp:cNvSpPr/>
      </dsp:nvSpPr>
      <dsp:spPr>
        <a:xfrm>
          <a:off x="0" y="3529661"/>
          <a:ext cx="4947047" cy="14116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05456F-0BE5-41B4-8710-3C3D3BD6CDC8}">
      <dsp:nvSpPr>
        <dsp:cNvPr id="0" name=""/>
        <dsp:cNvSpPr/>
      </dsp:nvSpPr>
      <dsp:spPr>
        <a:xfrm>
          <a:off x="427016" y="3847276"/>
          <a:ext cx="776392" cy="776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95DFA1-A7E7-4E54-B1E7-E4E45E41B693}">
      <dsp:nvSpPr>
        <dsp:cNvPr id="0" name=""/>
        <dsp:cNvSpPr/>
      </dsp:nvSpPr>
      <dsp:spPr>
        <a:xfrm>
          <a:off x="1630424" y="3529661"/>
          <a:ext cx="3316622" cy="1411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97" tIns="149397" rIns="149397" bIns="149397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Categorized issues by type and financial impact.</a:t>
          </a:r>
        </a:p>
      </dsp:txBody>
      <dsp:txXfrm>
        <a:off x="1630424" y="3529661"/>
        <a:ext cx="3316622" cy="14116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54027B-664A-455F-BE9B-18D40E39EE72}">
      <dsp:nvSpPr>
        <dsp:cNvPr id="0" name=""/>
        <dsp:cNvSpPr/>
      </dsp:nvSpPr>
      <dsp:spPr>
        <a:xfrm>
          <a:off x="966" y="822572"/>
          <a:ext cx="2060464" cy="123627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Performed data validation checks (duplicates, incorrect values, posting errors).</a:t>
          </a:r>
        </a:p>
      </dsp:txBody>
      <dsp:txXfrm>
        <a:off x="37175" y="858781"/>
        <a:ext cx="1988046" cy="1163860"/>
      </dsp:txXfrm>
    </dsp:sp>
    <dsp:sp modelId="{AF549954-284A-4C6B-8472-C20085D93476}">
      <dsp:nvSpPr>
        <dsp:cNvPr id="0" name=""/>
        <dsp:cNvSpPr/>
      </dsp:nvSpPr>
      <dsp:spPr>
        <a:xfrm>
          <a:off x="2242751" y="1185214"/>
          <a:ext cx="436818" cy="5109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242751" y="1287413"/>
        <a:ext cx="305773" cy="306597"/>
      </dsp:txXfrm>
    </dsp:sp>
    <dsp:sp modelId="{F7001210-6D46-49F5-900E-5951BE2E5124}">
      <dsp:nvSpPr>
        <dsp:cNvPr id="0" name=""/>
        <dsp:cNvSpPr/>
      </dsp:nvSpPr>
      <dsp:spPr>
        <a:xfrm>
          <a:off x="2885616" y="822572"/>
          <a:ext cx="2060464" cy="1236278"/>
        </a:xfrm>
        <a:prstGeom prst="roundRect">
          <a:avLst>
            <a:gd name="adj" fmla="val 10000"/>
          </a:avLst>
        </a:prstGeom>
        <a:solidFill>
          <a:schemeClr val="accent5">
            <a:hueOff val="1178392"/>
            <a:satOff val="-5635"/>
            <a:lumOff val="6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Created a standardized reconciliation template.</a:t>
          </a:r>
        </a:p>
      </dsp:txBody>
      <dsp:txXfrm>
        <a:off x="2921825" y="858781"/>
        <a:ext cx="1988046" cy="1163860"/>
      </dsp:txXfrm>
    </dsp:sp>
    <dsp:sp modelId="{D1C2C63F-A345-49C4-B8E5-1AC5243AF472}">
      <dsp:nvSpPr>
        <dsp:cNvPr id="0" name=""/>
        <dsp:cNvSpPr/>
      </dsp:nvSpPr>
      <dsp:spPr>
        <a:xfrm rot="5400000">
          <a:off x="3697439" y="2203083"/>
          <a:ext cx="436818" cy="5109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3762550" y="2240172"/>
        <a:ext cx="306597" cy="305773"/>
      </dsp:txXfrm>
    </dsp:sp>
    <dsp:sp modelId="{6FF99E0E-DDAB-414C-87E8-709CCCBC743F}">
      <dsp:nvSpPr>
        <dsp:cNvPr id="0" name=""/>
        <dsp:cNvSpPr/>
      </dsp:nvSpPr>
      <dsp:spPr>
        <a:xfrm>
          <a:off x="2885616" y="2883036"/>
          <a:ext cx="2060464" cy="1236278"/>
        </a:xfrm>
        <a:prstGeom prst="roundRect">
          <a:avLst>
            <a:gd name="adj" fmla="val 10000"/>
          </a:avLst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Collaborated with departments to resolve mismatches.</a:t>
          </a:r>
        </a:p>
      </dsp:txBody>
      <dsp:txXfrm>
        <a:off x="2921825" y="2919245"/>
        <a:ext cx="1988046" cy="11638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AC9C71-3F84-4259-8048-F310289E34E4}">
      <dsp:nvSpPr>
        <dsp:cNvPr id="0" name=""/>
        <dsp:cNvSpPr/>
      </dsp:nvSpPr>
      <dsp:spPr>
        <a:xfrm>
          <a:off x="0" y="30624"/>
          <a:ext cx="4231481" cy="2386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Ensured final reconciled records matched internal books and verified external statements.</a:t>
          </a:r>
        </a:p>
      </dsp:txBody>
      <dsp:txXfrm>
        <a:off x="116514" y="147138"/>
        <a:ext cx="3998453" cy="2153772"/>
      </dsp:txXfrm>
    </dsp:sp>
    <dsp:sp modelId="{633B691E-2916-444A-B0DC-C667F9828072}">
      <dsp:nvSpPr>
        <dsp:cNvPr id="0" name=""/>
        <dsp:cNvSpPr/>
      </dsp:nvSpPr>
      <dsp:spPr>
        <a:xfrm>
          <a:off x="0" y="2503825"/>
          <a:ext cx="4231481" cy="238680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Confirmed overall financial accuracy.</a:t>
          </a:r>
        </a:p>
      </dsp:txBody>
      <dsp:txXfrm>
        <a:off x="116514" y="2620339"/>
        <a:ext cx="3998453" cy="21537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FD490-7F97-4BE4-9AC1-3345236E55E8}">
      <dsp:nvSpPr>
        <dsp:cNvPr id="0" name=""/>
        <dsp:cNvSpPr/>
      </dsp:nvSpPr>
      <dsp:spPr>
        <a:xfrm>
          <a:off x="2579" y="0"/>
          <a:ext cx="4941888" cy="4941888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85E8AD-3B72-418E-82BE-6B83558E8C79}">
      <dsp:nvSpPr>
        <dsp:cNvPr id="0" name=""/>
        <dsp:cNvSpPr/>
      </dsp:nvSpPr>
      <dsp:spPr>
        <a:xfrm>
          <a:off x="472058" y="469479"/>
          <a:ext cx="1927336" cy="192733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Achieved 100% alignment between internal and external records.</a:t>
          </a:r>
        </a:p>
      </dsp:txBody>
      <dsp:txXfrm>
        <a:off x="566143" y="563564"/>
        <a:ext cx="1739166" cy="1739166"/>
      </dsp:txXfrm>
    </dsp:sp>
    <dsp:sp modelId="{A6F06529-1F31-49AC-97F7-1C1BDDE5B363}">
      <dsp:nvSpPr>
        <dsp:cNvPr id="0" name=""/>
        <dsp:cNvSpPr/>
      </dsp:nvSpPr>
      <dsp:spPr>
        <a:xfrm>
          <a:off x="2547651" y="469479"/>
          <a:ext cx="1927336" cy="192733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Increased reliability of financial reporting.</a:t>
          </a:r>
        </a:p>
      </dsp:txBody>
      <dsp:txXfrm>
        <a:off x="2641736" y="563564"/>
        <a:ext cx="1739166" cy="1739166"/>
      </dsp:txXfrm>
    </dsp:sp>
    <dsp:sp modelId="{47957F0A-CB4B-472C-A3DD-48C9B3061944}">
      <dsp:nvSpPr>
        <dsp:cNvPr id="0" name=""/>
        <dsp:cNvSpPr/>
      </dsp:nvSpPr>
      <dsp:spPr>
        <a:xfrm>
          <a:off x="472058" y="2545072"/>
          <a:ext cx="1927336" cy="192733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Reduced reconciliation time via automation &amp; standardized documentation.</a:t>
          </a:r>
        </a:p>
      </dsp:txBody>
      <dsp:txXfrm>
        <a:off x="566143" y="2639157"/>
        <a:ext cx="1739166" cy="1739166"/>
      </dsp:txXfrm>
    </dsp:sp>
    <dsp:sp modelId="{137C1974-92E8-485D-AEA5-732B81E9664D}">
      <dsp:nvSpPr>
        <dsp:cNvPr id="0" name=""/>
        <dsp:cNvSpPr/>
      </dsp:nvSpPr>
      <dsp:spPr>
        <a:xfrm>
          <a:off x="2547651" y="2545072"/>
          <a:ext cx="1927336" cy="192733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Enhanced audit readiness through clear traceability and documentation.</a:t>
          </a:r>
        </a:p>
      </dsp:txBody>
      <dsp:txXfrm>
        <a:off x="2641736" y="2639157"/>
        <a:ext cx="1739166" cy="17391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047DE4-2DF6-4FD7-8F24-15055D445A74}">
      <dsp:nvSpPr>
        <dsp:cNvPr id="0" name=""/>
        <dsp:cNvSpPr/>
      </dsp:nvSpPr>
      <dsp:spPr>
        <a:xfrm>
          <a:off x="0" y="2051"/>
          <a:ext cx="4947047" cy="10395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FA5603-FD3F-4A44-8B9D-B272E2CFC3E2}">
      <dsp:nvSpPr>
        <dsp:cNvPr id="0" name=""/>
        <dsp:cNvSpPr/>
      </dsp:nvSpPr>
      <dsp:spPr>
        <a:xfrm>
          <a:off x="314458" y="235946"/>
          <a:ext cx="571743" cy="571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2FA98-FBB6-4C76-A1DD-42BF9718155B}">
      <dsp:nvSpPr>
        <dsp:cNvPr id="0" name=""/>
        <dsp:cNvSpPr/>
      </dsp:nvSpPr>
      <dsp:spPr>
        <a:xfrm>
          <a:off x="1200661" y="2051"/>
          <a:ext cx="3746385" cy="1039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017" tIns="110017" rIns="110017" bIns="11001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Implement automated reconciliation workflows.</a:t>
          </a:r>
        </a:p>
      </dsp:txBody>
      <dsp:txXfrm>
        <a:off x="1200661" y="2051"/>
        <a:ext cx="3746385" cy="1039533"/>
      </dsp:txXfrm>
    </dsp:sp>
    <dsp:sp modelId="{111ED9DA-DCED-4E1B-A17E-95AE1310FF29}">
      <dsp:nvSpPr>
        <dsp:cNvPr id="0" name=""/>
        <dsp:cNvSpPr/>
      </dsp:nvSpPr>
      <dsp:spPr>
        <a:xfrm>
          <a:off x="0" y="1301468"/>
          <a:ext cx="4947047" cy="10395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8E090F-3098-4465-BF1A-8FE23B573333}">
      <dsp:nvSpPr>
        <dsp:cNvPr id="0" name=""/>
        <dsp:cNvSpPr/>
      </dsp:nvSpPr>
      <dsp:spPr>
        <a:xfrm>
          <a:off x="314458" y="1535363"/>
          <a:ext cx="571743" cy="571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ED539C-8755-4975-9724-8BA6A2F5EA04}">
      <dsp:nvSpPr>
        <dsp:cNvPr id="0" name=""/>
        <dsp:cNvSpPr/>
      </dsp:nvSpPr>
      <dsp:spPr>
        <a:xfrm>
          <a:off x="1200661" y="1301468"/>
          <a:ext cx="3746385" cy="1039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017" tIns="110017" rIns="110017" bIns="11001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Schedule periodic reconciliations.</a:t>
          </a:r>
        </a:p>
      </dsp:txBody>
      <dsp:txXfrm>
        <a:off x="1200661" y="1301468"/>
        <a:ext cx="3746385" cy="1039533"/>
      </dsp:txXfrm>
    </dsp:sp>
    <dsp:sp modelId="{11340E0B-159F-4E17-A5B9-E6580660A151}">
      <dsp:nvSpPr>
        <dsp:cNvPr id="0" name=""/>
        <dsp:cNvSpPr/>
      </dsp:nvSpPr>
      <dsp:spPr>
        <a:xfrm>
          <a:off x="0" y="2600885"/>
          <a:ext cx="4947047" cy="10395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285D80-9956-4FD2-B43C-EF0B61DE0798}">
      <dsp:nvSpPr>
        <dsp:cNvPr id="0" name=""/>
        <dsp:cNvSpPr/>
      </dsp:nvSpPr>
      <dsp:spPr>
        <a:xfrm>
          <a:off x="314458" y="2834780"/>
          <a:ext cx="571743" cy="571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F4A95F-E918-43A3-8640-EB498BDB1732}">
      <dsp:nvSpPr>
        <dsp:cNvPr id="0" name=""/>
        <dsp:cNvSpPr/>
      </dsp:nvSpPr>
      <dsp:spPr>
        <a:xfrm>
          <a:off x="1200661" y="2600885"/>
          <a:ext cx="3746385" cy="1039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017" tIns="110017" rIns="110017" bIns="11001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Strengthen communication across finance, operations, and compliance.</a:t>
          </a:r>
        </a:p>
      </dsp:txBody>
      <dsp:txXfrm>
        <a:off x="1200661" y="2600885"/>
        <a:ext cx="3746385" cy="1039533"/>
      </dsp:txXfrm>
    </dsp:sp>
    <dsp:sp modelId="{669F1CD9-6874-4C11-AFE7-2CD9953D614F}">
      <dsp:nvSpPr>
        <dsp:cNvPr id="0" name=""/>
        <dsp:cNvSpPr/>
      </dsp:nvSpPr>
      <dsp:spPr>
        <a:xfrm>
          <a:off x="0" y="3900303"/>
          <a:ext cx="4947047" cy="103953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7C1721-CDF1-4766-8A00-B689FD43CC48}">
      <dsp:nvSpPr>
        <dsp:cNvPr id="0" name=""/>
        <dsp:cNvSpPr/>
      </dsp:nvSpPr>
      <dsp:spPr>
        <a:xfrm>
          <a:off x="314458" y="4134198"/>
          <a:ext cx="571743" cy="5717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067AFD-8778-4E49-A4DC-905C04442432}">
      <dsp:nvSpPr>
        <dsp:cNvPr id="0" name=""/>
        <dsp:cNvSpPr/>
      </dsp:nvSpPr>
      <dsp:spPr>
        <a:xfrm>
          <a:off x="1200661" y="3900303"/>
          <a:ext cx="3746385" cy="1039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017" tIns="110017" rIns="110017" bIns="11001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Introduce variance thresholds for faster escalation.</a:t>
          </a:r>
        </a:p>
      </dsp:txBody>
      <dsp:txXfrm>
        <a:off x="1200661" y="3900303"/>
        <a:ext cx="3746385" cy="10395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068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03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943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6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38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7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87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43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360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03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43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621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hade val="85000"/>
            <a:satMod val="1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43280A9-E265-46D1-8575-622906D20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4DE20B70-4750-4280-B3AC-512C05EEF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688505" y="1814574"/>
            <a:ext cx="5570417" cy="3228207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8D95174-B5F2-424A-8183-654A5064D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000" y="-2"/>
            <a:ext cx="123444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368A96-A16E-42CE-842C-9166E567B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1444" y="620720"/>
            <a:ext cx="5492423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6641" y="942449"/>
            <a:ext cx="5010992" cy="1470249"/>
          </a:xfrm>
        </p:spPr>
        <p:txBody>
          <a:bodyPr>
            <a:normAutofit/>
          </a:bodyPr>
          <a:lstStyle/>
          <a:p>
            <a:r>
              <a:rPr lang="en-US"/>
              <a:t>Reconciliation Project – Executive Remark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350D170-418B-4A22-8B98-15EF799FD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48775" y="2573573"/>
            <a:ext cx="493776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3410282" y="2773885"/>
            <a:ext cx="5007352" cy="3141013"/>
          </a:xfrm>
        </p:spPr>
        <p:txBody>
          <a:bodyPr>
            <a:normAutofit/>
          </a:bodyPr>
          <a:lstStyle/>
          <a:p>
            <a:r>
              <a:t>Objective:</a:t>
            </a:r>
          </a:p>
          <a:p>
            <a:r>
              <a:t>Ensure accuracy, transparency, and completeness of financial records by reconciling all transactional data across systems.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AAC386-A18D-4525-AD1B-4D227ED34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404" y="643467"/>
            <a:ext cx="2604756" cy="5571066"/>
          </a:xfrm>
        </p:spPr>
        <p:txBody>
          <a:bodyPr>
            <a:normAutofit/>
          </a:bodyPr>
          <a:lstStyle/>
          <a:p>
            <a:r>
              <a:t>Summary of Work Done – Part 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4C4AD0-FE94-4E84-ACA6-CC5BF1A11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90097" y="2514600"/>
            <a:ext cx="0" cy="1828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3127D7-5F4C-FEB3-FE15-92C64DB9AB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2254732"/>
              </p:ext>
            </p:extLst>
          </p:nvPr>
        </p:nvGraphicFramePr>
        <p:xfrm>
          <a:off x="707231" y="933450"/>
          <a:ext cx="4947047" cy="4941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AAC386-A18D-4525-AD1B-4D227ED34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404" y="643467"/>
            <a:ext cx="2604756" cy="5571066"/>
          </a:xfrm>
        </p:spPr>
        <p:txBody>
          <a:bodyPr>
            <a:normAutofit/>
          </a:bodyPr>
          <a:lstStyle/>
          <a:p>
            <a:r>
              <a:t>Summary of Work Done – Part 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4C4AD0-FE94-4E84-ACA6-CC5BF1A11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90097" y="2514600"/>
            <a:ext cx="0" cy="1828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58EB9F-1114-2053-D194-2D88D26773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0641054"/>
              </p:ext>
            </p:extLst>
          </p:nvPr>
        </p:nvGraphicFramePr>
        <p:xfrm>
          <a:off x="707231" y="933450"/>
          <a:ext cx="4947047" cy="4941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Summary of Work Done – Part 3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7A5442-D119-87FA-FF8E-F2B843F43C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2685991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AAC386-A18D-4525-AD1B-4D227ED34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404" y="643467"/>
            <a:ext cx="2604756" cy="5571066"/>
          </a:xfrm>
        </p:spPr>
        <p:txBody>
          <a:bodyPr>
            <a:normAutofit/>
          </a:bodyPr>
          <a:lstStyle/>
          <a:p>
            <a:r>
              <a:t>Outcome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4C4AD0-FE94-4E84-ACA6-CC5BF1A11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90097" y="2514600"/>
            <a:ext cx="0" cy="1828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36F3F6-47DF-1CC4-06C3-3DCC6FF97A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0984278"/>
              </p:ext>
            </p:extLst>
          </p:nvPr>
        </p:nvGraphicFramePr>
        <p:xfrm>
          <a:off x="707231" y="933450"/>
          <a:ext cx="4947047" cy="4941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0AAC386-A18D-4525-AD1B-4D227ED34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404" y="643467"/>
            <a:ext cx="2604756" cy="5571066"/>
          </a:xfrm>
        </p:spPr>
        <p:txBody>
          <a:bodyPr>
            <a:normAutofit/>
          </a:bodyPr>
          <a:lstStyle/>
          <a:p>
            <a:r>
              <a:rPr lang="en-US" sz="2800"/>
              <a:t>Next Steps / Recommendations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34C4AD0-FE94-4E84-ACA6-CC5BF1A11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90097" y="2514600"/>
            <a:ext cx="0" cy="1828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8E7D68B5-3F52-73C8-3984-09021CF50C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2117515"/>
              </p:ext>
            </p:extLst>
          </p:nvPr>
        </p:nvGraphicFramePr>
        <p:xfrm>
          <a:off x="707231" y="933450"/>
          <a:ext cx="4947047" cy="4941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</TotalTime>
  <Words>197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Tw Cen MT</vt:lpstr>
      <vt:lpstr>Tw Cen MT Condensed</vt:lpstr>
      <vt:lpstr>Wingdings 3</vt:lpstr>
      <vt:lpstr>Integral</vt:lpstr>
      <vt:lpstr>Reconciliation Project – Executive Remark</vt:lpstr>
      <vt:lpstr>Summary of Work Done – Part 1</vt:lpstr>
      <vt:lpstr>Summary of Work Done – Part 2</vt:lpstr>
      <vt:lpstr>Summary of Work Done – Part 3</vt:lpstr>
      <vt:lpstr>Outcome</vt:lpstr>
      <vt:lpstr>Next Steps /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Afronika Global</cp:lastModifiedBy>
  <cp:revision>2</cp:revision>
  <dcterms:created xsi:type="dcterms:W3CDTF">2013-01-27T09:14:16Z</dcterms:created>
  <dcterms:modified xsi:type="dcterms:W3CDTF">2025-12-02T23:41:15Z</dcterms:modified>
  <cp:category/>
</cp:coreProperties>
</file>