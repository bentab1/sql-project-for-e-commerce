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BC930D-F3E2-44DB-A1F9-98FCF4D6621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AE9352-80F4-42E5-8EDF-2BD61ECBD1C9}">
      <dgm:prSet/>
      <dgm:spPr/>
      <dgm:t>
        <a:bodyPr/>
        <a:lstStyle/>
        <a:p>
          <a:r>
            <a:rPr lang="en-US"/>
            <a:t>• Daily returns computed using pct_change</a:t>
          </a:r>
        </a:p>
      </dgm:t>
    </dgm:pt>
    <dgm:pt modelId="{36328713-7FFF-47FC-934F-78D0460FF2FD}" type="parTrans" cxnId="{6C7B46F9-D7FC-480A-9DCD-62B393238FD0}">
      <dgm:prSet/>
      <dgm:spPr/>
      <dgm:t>
        <a:bodyPr/>
        <a:lstStyle/>
        <a:p>
          <a:endParaRPr lang="en-US"/>
        </a:p>
      </dgm:t>
    </dgm:pt>
    <dgm:pt modelId="{50B5174B-95D7-4407-BAD9-462A0B1A330C}" type="sibTrans" cxnId="{6C7B46F9-D7FC-480A-9DCD-62B393238FD0}">
      <dgm:prSet/>
      <dgm:spPr/>
      <dgm:t>
        <a:bodyPr/>
        <a:lstStyle/>
        <a:p>
          <a:endParaRPr lang="en-US"/>
        </a:p>
      </dgm:t>
    </dgm:pt>
    <dgm:pt modelId="{2E21BD34-E788-4356-9CD4-B3C7AEF8E80D}">
      <dgm:prSet/>
      <dgm:spPr/>
      <dgm:t>
        <a:bodyPr/>
        <a:lstStyle/>
        <a:p>
          <a:r>
            <a:rPr lang="en-US"/>
            <a:t>• Annualized mean returns = daily_mean × 252</a:t>
          </a:r>
        </a:p>
      </dgm:t>
    </dgm:pt>
    <dgm:pt modelId="{567DDE4E-C8B5-4BBE-B434-FF9D40B7B38E}" type="parTrans" cxnId="{AB1E1ADA-835E-42C9-8AF7-FDBD5CF9A10C}">
      <dgm:prSet/>
      <dgm:spPr/>
      <dgm:t>
        <a:bodyPr/>
        <a:lstStyle/>
        <a:p>
          <a:endParaRPr lang="en-US"/>
        </a:p>
      </dgm:t>
    </dgm:pt>
    <dgm:pt modelId="{23047E66-42CC-4F5F-B6C3-AC72EADA2755}" type="sibTrans" cxnId="{AB1E1ADA-835E-42C9-8AF7-FDBD5CF9A10C}">
      <dgm:prSet/>
      <dgm:spPr/>
      <dgm:t>
        <a:bodyPr/>
        <a:lstStyle/>
        <a:p>
          <a:endParaRPr lang="en-US"/>
        </a:p>
      </dgm:t>
    </dgm:pt>
    <dgm:pt modelId="{A130808C-F84E-487E-AC15-5EA983CFEAA7}">
      <dgm:prSet/>
      <dgm:spPr/>
      <dgm:t>
        <a:bodyPr/>
        <a:lstStyle/>
        <a:p>
          <a:r>
            <a:rPr lang="en-US"/>
            <a:t>• Annualized volatility = std × sqrt(252)</a:t>
          </a:r>
        </a:p>
      </dgm:t>
    </dgm:pt>
    <dgm:pt modelId="{30AFEB4F-4B14-4F28-B7CA-D328410C414C}" type="parTrans" cxnId="{4270095F-8FA9-4136-8135-CCBCDA8A44B9}">
      <dgm:prSet/>
      <dgm:spPr/>
      <dgm:t>
        <a:bodyPr/>
        <a:lstStyle/>
        <a:p>
          <a:endParaRPr lang="en-US"/>
        </a:p>
      </dgm:t>
    </dgm:pt>
    <dgm:pt modelId="{9EF0EAF9-A0B7-4EB6-BDEE-F8B02CD43E53}" type="sibTrans" cxnId="{4270095F-8FA9-4136-8135-CCBCDA8A44B9}">
      <dgm:prSet/>
      <dgm:spPr/>
      <dgm:t>
        <a:bodyPr/>
        <a:lstStyle/>
        <a:p>
          <a:endParaRPr lang="en-US"/>
        </a:p>
      </dgm:t>
    </dgm:pt>
    <dgm:pt modelId="{0F135B56-7CC8-4175-BB89-833FCBD2739F}">
      <dgm:prSet/>
      <dgm:spPr/>
      <dgm:t>
        <a:bodyPr/>
        <a:lstStyle/>
        <a:p>
          <a:r>
            <a:rPr lang="en-US"/>
            <a:t>• Helps assess expected performance and risk</a:t>
          </a:r>
        </a:p>
      </dgm:t>
    </dgm:pt>
    <dgm:pt modelId="{ABC3DF97-EBA2-43A5-8293-060F7F10D87E}" type="parTrans" cxnId="{C8218D8A-1886-4A6E-A6B1-716BE0C06B27}">
      <dgm:prSet/>
      <dgm:spPr/>
      <dgm:t>
        <a:bodyPr/>
        <a:lstStyle/>
        <a:p>
          <a:endParaRPr lang="en-US"/>
        </a:p>
      </dgm:t>
    </dgm:pt>
    <dgm:pt modelId="{17E49AD9-1D2D-409D-9F1B-D3271AA65705}" type="sibTrans" cxnId="{C8218D8A-1886-4A6E-A6B1-716BE0C06B27}">
      <dgm:prSet/>
      <dgm:spPr/>
      <dgm:t>
        <a:bodyPr/>
        <a:lstStyle/>
        <a:p>
          <a:endParaRPr lang="en-US"/>
        </a:p>
      </dgm:t>
    </dgm:pt>
    <dgm:pt modelId="{553A9942-7864-40AC-98D9-73AA5453891D}" type="pres">
      <dgm:prSet presAssocID="{4EBC930D-F3E2-44DB-A1F9-98FCF4D6621E}" presName="outerComposite" presStyleCnt="0">
        <dgm:presLayoutVars>
          <dgm:chMax val="5"/>
          <dgm:dir/>
          <dgm:resizeHandles val="exact"/>
        </dgm:presLayoutVars>
      </dgm:prSet>
      <dgm:spPr/>
    </dgm:pt>
    <dgm:pt modelId="{5F5CA80D-7A1E-4CE9-A4CC-1FCD81F56F0E}" type="pres">
      <dgm:prSet presAssocID="{4EBC930D-F3E2-44DB-A1F9-98FCF4D6621E}" presName="dummyMaxCanvas" presStyleCnt="0">
        <dgm:presLayoutVars/>
      </dgm:prSet>
      <dgm:spPr/>
    </dgm:pt>
    <dgm:pt modelId="{E8942C59-8398-48B6-A3CE-DA22F66481B5}" type="pres">
      <dgm:prSet presAssocID="{4EBC930D-F3E2-44DB-A1F9-98FCF4D6621E}" presName="FourNodes_1" presStyleLbl="node1" presStyleIdx="0" presStyleCnt="4">
        <dgm:presLayoutVars>
          <dgm:bulletEnabled val="1"/>
        </dgm:presLayoutVars>
      </dgm:prSet>
      <dgm:spPr/>
    </dgm:pt>
    <dgm:pt modelId="{450FA388-1F30-4079-8D8E-86186C188542}" type="pres">
      <dgm:prSet presAssocID="{4EBC930D-F3E2-44DB-A1F9-98FCF4D6621E}" presName="FourNodes_2" presStyleLbl="node1" presStyleIdx="1" presStyleCnt="4">
        <dgm:presLayoutVars>
          <dgm:bulletEnabled val="1"/>
        </dgm:presLayoutVars>
      </dgm:prSet>
      <dgm:spPr/>
    </dgm:pt>
    <dgm:pt modelId="{FD421647-3247-4B97-8108-6172C60B4C00}" type="pres">
      <dgm:prSet presAssocID="{4EBC930D-F3E2-44DB-A1F9-98FCF4D6621E}" presName="FourNodes_3" presStyleLbl="node1" presStyleIdx="2" presStyleCnt="4">
        <dgm:presLayoutVars>
          <dgm:bulletEnabled val="1"/>
        </dgm:presLayoutVars>
      </dgm:prSet>
      <dgm:spPr/>
    </dgm:pt>
    <dgm:pt modelId="{8BB5077C-D409-4624-AD52-33C09ABD9E84}" type="pres">
      <dgm:prSet presAssocID="{4EBC930D-F3E2-44DB-A1F9-98FCF4D6621E}" presName="FourNodes_4" presStyleLbl="node1" presStyleIdx="3" presStyleCnt="4">
        <dgm:presLayoutVars>
          <dgm:bulletEnabled val="1"/>
        </dgm:presLayoutVars>
      </dgm:prSet>
      <dgm:spPr/>
    </dgm:pt>
    <dgm:pt modelId="{B3745956-902B-445F-9AA7-5001E841E554}" type="pres">
      <dgm:prSet presAssocID="{4EBC930D-F3E2-44DB-A1F9-98FCF4D6621E}" presName="FourConn_1-2" presStyleLbl="fgAccFollowNode1" presStyleIdx="0" presStyleCnt="3">
        <dgm:presLayoutVars>
          <dgm:bulletEnabled val="1"/>
        </dgm:presLayoutVars>
      </dgm:prSet>
      <dgm:spPr/>
    </dgm:pt>
    <dgm:pt modelId="{13D17E06-48A0-4DDF-8270-7C1E0E013D33}" type="pres">
      <dgm:prSet presAssocID="{4EBC930D-F3E2-44DB-A1F9-98FCF4D6621E}" presName="FourConn_2-3" presStyleLbl="fgAccFollowNode1" presStyleIdx="1" presStyleCnt="3">
        <dgm:presLayoutVars>
          <dgm:bulletEnabled val="1"/>
        </dgm:presLayoutVars>
      </dgm:prSet>
      <dgm:spPr/>
    </dgm:pt>
    <dgm:pt modelId="{C082EC4E-1793-4B0B-A23D-BB81BD3B9BC9}" type="pres">
      <dgm:prSet presAssocID="{4EBC930D-F3E2-44DB-A1F9-98FCF4D6621E}" presName="FourConn_3-4" presStyleLbl="fgAccFollowNode1" presStyleIdx="2" presStyleCnt="3">
        <dgm:presLayoutVars>
          <dgm:bulletEnabled val="1"/>
        </dgm:presLayoutVars>
      </dgm:prSet>
      <dgm:spPr/>
    </dgm:pt>
    <dgm:pt modelId="{AF647594-70A1-46EC-8B52-39DB12E7B1C3}" type="pres">
      <dgm:prSet presAssocID="{4EBC930D-F3E2-44DB-A1F9-98FCF4D6621E}" presName="FourNodes_1_text" presStyleLbl="node1" presStyleIdx="3" presStyleCnt="4">
        <dgm:presLayoutVars>
          <dgm:bulletEnabled val="1"/>
        </dgm:presLayoutVars>
      </dgm:prSet>
      <dgm:spPr/>
    </dgm:pt>
    <dgm:pt modelId="{72B44294-4A77-42D4-B9C4-7D0EED7AB51C}" type="pres">
      <dgm:prSet presAssocID="{4EBC930D-F3E2-44DB-A1F9-98FCF4D6621E}" presName="FourNodes_2_text" presStyleLbl="node1" presStyleIdx="3" presStyleCnt="4">
        <dgm:presLayoutVars>
          <dgm:bulletEnabled val="1"/>
        </dgm:presLayoutVars>
      </dgm:prSet>
      <dgm:spPr/>
    </dgm:pt>
    <dgm:pt modelId="{AC575080-E506-45C5-8CFC-5333FEF575E6}" type="pres">
      <dgm:prSet presAssocID="{4EBC930D-F3E2-44DB-A1F9-98FCF4D6621E}" presName="FourNodes_3_text" presStyleLbl="node1" presStyleIdx="3" presStyleCnt="4">
        <dgm:presLayoutVars>
          <dgm:bulletEnabled val="1"/>
        </dgm:presLayoutVars>
      </dgm:prSet>
      <dgm:spPr/>
    </dgm:pt>
    <dgm:pt modelId="{9BC5A2D7-3603-40B8-A951-2796010B313E}" type="pres">
      <dgm:prSet presAssocID="{4EBC930D-F3E2-44DB-A1F9-98FCF4D6621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1365A07-3597-4DD4-9534-49BAA67FC75C}" type="presOf" srcId="{0F135B56-7CC8-4175-BB89-833FCBD2739F}" destId="{9BC5A2D7-3603-40B8-A951-2796010B313E}" srcOrd="1" destOrd="0" presId="urn:microsoft.com/office/officeart/2005/8/layout/vProcess5"/>
    <dgm:cxn modelId="{8B820208-7586-46D7-856F-78E8F3DE5CC9}" type="presOf" srcId="{81AE9352-80F4-42E5-8EDF-2BD61ECBD1C9}" destId="{AF647594-70A1-46EC-8B52-39DB12E7B1C3}" srcOrd="1" destOrd="0" presId="urn:microsoft.com/office/officeart/2005/8/layout/vProcess5"/>
    <dgm:cxn modelId="{2C3AC313-886E-4B88-8235-B899E55B8BD7}" type="presOf" srcId="{81AE9352-80F4-42E5-8EDF-2BD61ECBD1C9}" destId="{E8942C59-8398-48B6-A3CE-DA22F66481B5}" srcOrd="0" destOrd="0" presId="urn:microsoft.com/office/officeart/2005/8/layout/vProcess5"/>
    <dgm:cxn modelId="{6DA95A2B-9E19-46A0-A653-CC027102EE67}" type="presOf" srcId="{A130808C-F84E-487E-AC15-5EA983CFEAA7}" destId="{FD421647-3247-4B97-8108-6172C60B4C00}" srcOrd="0" destOrd="0" presId="urn:microsoft.com/office/officeart/2005/8/layout/vProcess5"/>
    <dgm:cxn modelId="{0132503D-FF45-4503-9D10-C888C88B98C1}" type="presOf" srcId="{23047E66-42CC-4F5F-B6C3-AC72EADA2755}" destId="{13D17E06-48A0-4DDF-8270-7C1E0E013D33}" srcOrd="0" destOrd="0" presId="urn:microsoft.com/office/officeart/2005/8/layout/vProcess5"/>
    <dgm:cxn modelId="{4270095F-8FA9-4136-8135-CCBCDA8A44B9}" srcId="{4EBC930D-F3E2-44DB-A1F9-98FCF4D6621E}" destId="{A130808C-F84E-487E-AC15-5EA983CFEAA7}" srcOrd="2" destOrd="0" parTransId="{30AFEB4F-4B14-4F28-B7CA-D328410C414C}" sibTransId="{9EF0EAF9-A0B7-4EB6-BDEE-F8B02CD43E53}"/>
    <dgm:cxn modelId="{C8218D8A-1886-4A6E-A6B1-716BE0C06B27}" srcId="{4EBC930D-F3E2-44DB-A1F9-98FCF4D6621E}" destId="{0F135B56-7CC8-4175-BB89-833FCBD2739F}" srcOrd="3" destOrd="0" parTransId="{ABC3DF97-EBA2-43A5-8293-060F7F10D87E}" sibTransId="{17E49AD9-1D2D-409D-9F1B-D3271AA65705}"/>
    <dgm:cxn modelId="{CDF2A79F-3995-4FFF-AE55-9A128EF72185}" type="presOf" srcId="{4EBC930D-F3E2-44DB-A1F9-98FCF4D6621E}" destId="{553A9942-7864-40AC-98D9-73AA5453891D}" srcOrd="0" destOrd="0" presId="urn:microsoft.com/office/officeart/2005/8/layout/vProcess5"/>
    <dgm:cxn modelId="{61DAE7D5-2E82-4631-B5B9-71EEFC1619F1}" type="presOf" srcId="{A130808C-F84E-487E-AC15-5EA983CFEAA7}" destId="{AC575080-E506-45C5-8CFC-5333FEF575E6}" srcOrd="1" destOrd="0" presId="urn:microsoft.com/office/officeart/2005/8/layout/vProcess5"/>
    <dgm:cxn modelId="{D70044D6-4735-46EC-BE11-D516A2ECE54F}" type="presOf" srcId="{9EF0EAF9-A0B7-4EB6-BDEE-F8B02CD43E53}" destId="{C082EC4E-1793-4B0B-A23D-BB81BD3B9BC9}" srcOrd="0" destOrd="0" presId="urn:microsoft.com/office/officeart/2005/8/layout/vProcess5"/>
    <dgm:cxn modelId="{AB1E1ADA-835E-42C9-8AF7-FDBD5CF9A10C}" srcId="{4EBC930D-F3E2-44DB-A1F9-98FCF4D6621E}" destId="{2E21BD34-E788-4356-9CD4-B3C7AEF8E80D}" srcOrd="1" destOrd="0" parTransId="{567DDE4E-C8B5-4BBE-B434-FF9D40B7B38E}" sibTransId="{23047E66-42CC-4F5F-B6C3-AC72EADA2755}"/>
    <dgm:cxn modelId="{59F140DE-B16B-4977-9A19-0F3347696C7C}" type="presOf" srcId="{2E21BD34-E788-4356-9CD4-B3C7AEF8E80D}" destId="{72B44294-4A77-42D4-B9C4-7D0EED7AB51C}" srcOrd="1" destOrd="0" presId="urn:microsoft.com/office/officeart/2005/8/layout/vProcess5"/>
    <dgm:cxn modelId="{EE12A2E6-AE7D-4A1C-A7C3-82E92AA1B54B}" type="presOf" srcId="{0F135B56-7CC8-4175-BB89-833FCBD2739F}" destId="{8BB5077C-D409-4624-AD52-33C09ABD9E84}" srcOrd="0" destOrd="0" presId="urn:microsoft.com/office/officeart/2005/8/layout/vProcess5"/>
    <dgm:cxn modelId="{AFDC5EE8-A218-444C-A3FF-8C0EE46B46E2}" type="presOf" srcId="{2E21BD34-E788-4356-9CD4-B3C7AEF8E80D}" destId="{450FA388-1F30-4079-8D8E-86186C188542}" srcOrd="0" destOrd="0" presId="urn:microsoft.com/office/officeart/2005/8/layout/vProcess5"/>
    <dgm:cxn modelId="{BE4940ED-F62F-4E3D-B29F-686A74FD57C1}" type="presOf" srcId="{50B5174B-95D7-4407-BAD9-462A0B1A330C}" destId="{B3745956-902B-445F-9AA7-5001E841E554}" srcOrd="0" destOrd="0" presId="urn:microsoft.com/office/officeart/2005/8/layout/vProcess5"/>
    <dgm:cxn modelId="{6C7B46F9-D7FC-480A-9DCD-62B393238FD0}" srcId="{4EBC930D-F3E2-44DB-A1F9-98FCF4D6621E}" destId="{81AE9352-80F4-42E5-8EDF-2BD61ECBD1C9}" srcOrd="0" destOrd="0" parTransId="{36328713-7FFF-47FC-934F-78D0460FF2FD}" sibTransId="{50B5174B-95D7-4407-BAD9-462A0B1A330C}"/>
    <dgm:cxn modelId="{9FA74827-46B7-4481-90CB-28D7F4B00198}" type="presParOf" srcId="{553A9942-7864-40AC-98D9-73AA5453891D}" destId="{5F5CA80D-7A1E-4CE9-A4CC-1FCD81F56F0E}" srcOrd="0" destOrd="0" presId="urn:microsoft.com/office/officeart/2005/8/layout/vProcess5"/>
    <dgm:cxn modelId="{BE5012F4-F418-4FE6-A2F5-B42D9B6B9460}" type="presParOf" srcId="{553A9942-7864-40AC-98D9-73AA5453891D}" destId="{E8942C59-8398-48B6-A3CE-DA22F66481B5}" srcOrd="1" destOrd="0" presId="urn:microsoft.com/office/officeart/2005/8/layout/vProcess5"/>
    <dgm:cxn modelId="{994D1021-0B27-433A-827F-7E77A3817D97}" type="presParOf" srcId="{553A9942-7864-40AC-98D9-73AA5453891D}" destId="{450FA388-1F30-4079-8D8E-86186C188542}" srcOrd="2" destOrd="0" presId="urn:microsoft.com/office/officeart/2005/8/layout/vProcess5"/>
    <dgm:cxn modelId="{3491C217-3D01-4B81-98AA-A2668C24C3AD}" type="presParOf" srcId="{553A9942-7864-40AC-98D9-73AA5453891D}" destId="{FD421647-3247-4B97-8108-6172C60B4C00}" srcOrd="3" destOrd="0" presId="urn:microsoft.com/office/officeart/2005/8/layout/vProcess5"/>
    <dgm:cxn modelId="{D16B0AB8-FCE5-4484-8B93-4328A55615C4}" type="presParOf" srcId="{553A9942-7864-40AC-98D9-73AA5453891D}" destId="{8BB5077C-D409-4624-AD52-33C09ABD9E84}" srcOrd="4" destOrd="0" presId="urn:microsoft.com/office/officeart/2005/8/layout/vProcess5"/>
    <dgm:cxn modelId="{93F9C036-0995-4B9D-A1CB-7AD442A28D02}" type="presParOf" srcId="{553A9942-7864-40AC-98D9-73AA5453891D}" destId="{B3745956-902B-445F-9AA7-5001E841E554}" srcOrd="5" destOrd="0" presId="urn:microsoft.com/office/officeart/2005/8/layout/vProcess5"/>
    <dgm:cxn modelId="{6A9866B5-2993-43FE-9219-29E43230CA21}" type="presParOf" srcId="{553A9942-7864-40AC-98D9-73AA5453891D}" destId="{13D17E06-48A0-4DDF-8270-7C1E0E013D33}" srcOrd="6" destOrd="0" presId="urn:microsoft.com/office/officeart/2005/8/layout/vProcess5"/>
    <dgm:cxn modelId="{BDEDB207-EC94-4A51-844D-3F5AD0614EFE}" type="presParOf" srcId="{553A9942-7864-40AC-98D9-73AA5453891D}" destId="{C082EC4E-1793-4B0B-A23D-BB81BD3B9BC9}" srcOrd="7" destOrd="0" presId="urn:microsoft.com/office/officeart/2005/8/layout/vProcess5"/>
    <dgm:cxn modelId="{70FDE476-BCE9-4367-9BF0-11C5454CF58C}" type="presParOf" srcId="{553A9942-7864-40AC-98D9-73AA5453891D}" destId="{AF647594-70A1-46EC-8B52-39DB12E7B1C3}" srcOrd="8" destOrd="0" presId="urn:microsoft.com/office/officeart/2005/8/layout/vProcess5"/>
    <dgm:cxn modelId="{B299E7E8-B6A5-486A-B744-119984F1D282}" type="presParOf" srcId="{553A9942-7864-40AC-98D9-73AA5453891D}" destId="{72B44294-4A77-42D4-B9C4-7D0EED7AB51C}" srcOrd="9" destOrd="0" presId="urn:microsoft.com/office/officeart/2005/8/layout/vProcess5"/>
    <dgm:cxn modelId="{39D6615A-37CB-4225-97A8-93A478B32A86}" type="presParOf" srcId="{553A9942-7864-40AC-98D9-73AA5453891D}" destId="{AC575080-E506-45C5-8CFC-5333FEF575E6}" srcOrd="10" destOrd="0" presId="urn:microsoft.com/office/officeart/2005/8/layout/vProcess5"/>
    <dgm:cxn modelId="{45557DF9-5E44-4400-95AB-53A755E60028}" type="presParOf" srcId="{553A9942-7864-40AC-98D9-73AA5453891D}" destId="{9BC5A2D7-3603-40B8-A951-2796010B31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C7753-0BBE-4802-B52B-8B4BE29AF79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77F063FF-2CB2-46D8-B020-9552F7C84587}">
      <dgm:prSet/>
      <dgm:spPr/>
      <dgm:t>
        <a:bodyPr/>
        <a:lstStyle/>
        <a:p>
          <a:pPr>
            <a:defRPr cap="all"/>
          </a:pPr>
          <a:r>
            <a:rPr lang="en-US"/>
            <a:t>• AAPL closing price plotted over time</a:t>
          </a:r>
        </a:p>
      </dgm:t>
    </dgm:pt>
    <dgm:pt modelId="{1158BCC2-29DE-42DD-B90F-A98F07B41B2B}" type="parTrans" cxnId="{4EA35B04-303F-4673-9972-8885C1E7B2EF}">
      <dgm:prSet/>
      <dgm:spPr/>
      <dgm:t>
        <a:bodyPr/>
        <a:lstStyle/>
        <a:p>
          <a:endParaRPr lang="en-US"/>
        </a:p>
      </dgm:t>
    </dgm:pt>
    <dgm:pt modelId="{DD8B7945-31CB-4662-B01A-D61E2C0A4A0A}" type="sibTrans" cxnId="{4EA35B04-303F-4673-9972-8885C1E7B2EF}">
      <dgm:prSet/>
      <dgm:spPr/>
      <dgm:t>
        <a:bodyPr/>
        <a:lstStyle/>
        <a:p>
          <a:endParaRPr lang="en-US"/>
        </a:p>
      </dgm:t>
    </dgm:pt>
    <dgm:pt modelId="{F80B071D-E11A-4204-84DD-2BAAA15FE5E1}">
      <dgm:prSet/>
      <dgm:spPr/>
      <dgm:t>
        <a:bodyPr/>
        <a:lstStyle/>
        <a:p>
          <a:pPr>
            <a:defRPr cap="all"/>
          </a:pPr>
          <a:r>
            <a:rPr lang="en-US"/>
            <a:t>• Identifies market direction and major events</a:t>
          </a:r>
        </a:p>
      </dgm:t>
    </dgm:pt>
    <dgm:pt modelId="{27E40382-75DB-4016-B182-62678222964B}" type="parTrans" cxnId="{DBE5CA22-3FA3-4437-A2C8-9EFDAF4E2609}">
      <dgm:prSet/>
      <dgm:spPr/>
      <dgm:t>
        <a:bodyPr/>
        <a:lstStyle/>
        <a:p>
          <a:endParaRPr lang="en-US"/>
        </a:p>
      </dgm:t>
    </dgm:pt>
    <dgm:pt modelId="{41E70D0D-E46D-4C10-9322-AF77ADEA199B}" type="sibTrans" cxnId="{DBE5CA22-3FA3-4437-A2C8-9EFDAF4E2609}">
      <dgm:prSet/>
      <dgm:spPr/>
      <dgm:t>
        <a:bodyPr/>
        <a:lstStyle/>
        <a:p>
          <a:endParaRPr lang="en-US"/>
        </a:p>
      </dgm:t>
    </dgm:pt>
    <dgm:pt modelId="{FEED1FE1-1779-4181-9438-59642A469B40}">
      <dgm:prSet/>
      <dgm:spPr/>
      <dgm:t>
        <a:bodyPr/>
        <a:lstStyle/>
        <a:p>
          <a:pPr>
            <a:defRPr cap="all"/>
          </a:pPr>
          <a:r>
            <a:rPr lang="en-US"/>
            <a:t>• Supports trend‑following and technical analysis</a:t>
          </a:r>
        </a:p>
      </dgm:t>
    </dgm:pt>
    <dgm:pt modelId="{0BE7180E-CE58-4266-81D1-A166DAE84BBF}" type="parTrans" cxnId="{9912EEC8-286E-4BD5-86A2-5B38F5D23249}">
      <dgm:prSet/>
      <dgm:spPr/>
      <dgm:t>
        <a:bodyPr/>
        <a:lstStyle/>
        <a:p>
          <a:endParaRPr lang="en-US"/>
        </a:p>
      </dgm:t>
    </dgm:pt>
    <dgm:pt modelId="{201DFBC3-CA70-4334-9C1A-A23D34C57004}" type="sibTrans" cxnId="{9912EEC8-286E-4BD5-86A2-5B38F5D23249}">
      <dgm:prSet/>
      <dgm:spPr/>
      <dgm:t>
        <a:bodyPr/>
        <a:lstStyle/>
        <a:p>
          <a:endParaRPr lang="en-US"/>
        </a:p>
      </dgm:t>
    </dgm:pt>
    <dgm:pt modelId="{80F1CEDE-3598-4F53-BA45-E4996140B603}" type="pres">
      <dgm:prSet presAssocID="{DB7C7753-0BBE-4802-B52B-8B4BE29AF792}" presName="root" presStyleCnt="0">
        <dgm:presLayoutVars>
          <dgm:dir/>
          <dgm:resizeHandles val="exact"/>
        </dgm:presLayoutVars>
      </dgm:prSet>
      <dgm:spPr/>
    </dgm:pt>
    <dgm:pt modelId="{7F79FA3A-5995-49E1-9658-19B0DF4D339E}" type="pres">
      <dgm:prSet presAssocID="{77F063FF-2CB2-46D8-B020-9552F7C84587}" presName="compNode" presStyleCnt="0"/>
      <dgm:spPr/>
    </dgm:pt>
    <dgm:pt modelId="{0F3F4987-A22E-4CE0-9CF2-083668E1EA5B}" type="pres">
      <dgm:prSet presAssocID="{77F063FF-2CB2-46D8-B020-9552F7C8458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1061C75-40BF-40D8-9A37-662AB04C8BF1}" type="pres">
      <dgm:prSet presAssocID="{77F063FF-2CB2-46D8-B020-9552F7C845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4E8C1FD-8404-4EBA-B39A-A2A4A84C5194}" type="pres">
      <dgm:prSet presAssocID="{77F063FF-2CB2-46D8-B020-9552F7C84587}" presName="spaceRect" presStyleCnt="0"/>
      <dgm:spPr/>
    </dgm:pt>
    <dgm:pt modelId="{70E19C09-A820-4EE1-B758-0084375E9BED}" type="pres">
      <dgm:prSet presAssocID="{77F063FF-2CB2-46D8-B020-9552F7C84587}" presName="textRect" presStyleLbl="revTx" presStyleIdx="0" presStyleCnt="3">
        <dgm:presLayoutVars>
          <dgm:chMax val="1"/>
          <dgm:chPref val="1"/>
        </dgm:presLayoutVars>
      </dgm:prSet>
      <dgm:spPr/>
    </dgm:pt>
    <dgm:pt modelId="{88EF5814-DAA2-4C66-9022-D2D686BBB17B}" type="pres">
      <dgm:prSet presAssocID="{DD8B7945-31CB-4662-B01A-D61E2C0A4A0A}" presName="sibTrans" presStyleCnt="0"/>
      <dgm:spPr/>
    </dgm:pt>
    <dgm:pt modelId="{A1F73664-D08A-4820-9906-53BE07663372}" type="pres">
      <dgm:prSet presAssocID="{F80B071D-E11A-4204-84DD-2BAAA15FE5E1}" presName="compNode" presStyleCnt="0"/>
      <dgm:spPr/>
    </dgm:pt>
    <dgm:pt modelId="{A7BE3273-8559-4AC8-B217-1542E1A90C21}" type="pres">
      <dgm:prSet presAssocID="{F80B071D-E11A-4204-84DD-2BAAA15FE5E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6A59BC6-BE24-468A-8DC1-DD507DD26445}" type="pres">
      <dgm:prSet presAssocID="{F80B071D-E11A-4204-84DD-2BAAA15FE5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09C20C0-91B2-46D7-888E-A426F00CD85D}" type="pres">
      <dgm:prSet presAssocID="{F80B071D-E11A-4204-84DD-2BAAA15FE5E1}" presName="spaceRect" presStyleCnt="0"/>
      <dgm:spPr/>
    </dgm:pt>
    <dgm:pt modelId="{F2C025BD-290F-4EFC-A701-E394E87AD8ED}" type="pres">
      <dgm:prSet presAssocID="{F80B071D-E11A-4204-84DD-2BAAA15FE5E1}" presName="textRect" presStyleLbl="revTx" presStyleIdx="1" presStyleCnt="3">
        <dgm:presLayoutVars>
          <dgm:chMax val="1"/>
          <dgm:chPref val="1"/>
        </dgm:presLayoutVars>
      </dgm:prSet>
      <dgm:spPr/>
    </dgm:pt>
    <dgm:pt modelId="{7B060A4B-D77A-4F76-A7E7-866CFE597781}" type="pres">
      <dgm:prSet presAssocID="{41E70D0D-E46D-4C10-9322-AF77ADEA199B}" presName="sibTrans" presStyleCnt="0"/>
      <dgm:spPr/>
    </dgm:pt>
    <dgm:pt modelId="{CA12E423-F0E9-4D29-AD5E-91F6314BE398}" type="pres">
      <dgm:prSet presAssocID="{FEED1FE1-1779-4181-9438-59642A469B40}" presName="compNode" presStyleCnt="0"/>
      <dgm:spPr/>
    </dgm:pt>
    <dgm:pt modelId="{9B4E40D5-51E1-4E11-BBAB-D906E6FD285E}" type="pres">
      <dgm:prSet presAssocID="{FEED1FE1-1779-4181-9438-59642A469B4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B927DD-1C45-4463-B72F-24AA14E2022F}" type="pres">
      <dgm:prSet presAssocID="{FEED1FE1-1779-4181-9438-59642A469B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BDE579-61D0-406F-ACC1-D0A662A90A77}" type="pres">
      <dgm:prSet presAssocID="{FEED1FE1-1779-4181-9438-59642A469B40}" presName="spaceRect" presStyleCnt="0"/>
      <dgm:spPr/>
    </dgm:pt>
    <dgm:pt modelId="{0720C279-8775-4F91-B10D-B090A72C8CD6}" type="pres">
      <dgm:prSet presAssocID="{FEED1FE1-1779-4181-9438-59642A469B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A35B04-303F-4673-9972-8885C1E7B2EF}" srcId="{DB7C7753-0BBE-4802-B52B-8B4BE29AF792}" destId="{77F063FF-2CB2-46D8-B020-9552F7C84587}" srcOrd="0" destOrd="0" parTransId="{1158BCC2-29DE-42DD-B90F-A98F07B41B2B}" sibTransId="{DD8B7945-31CB-4662-B01A-D61E2C0A4A0A}"/>
    <dgm:cxn modelId="{B5D1920A-8564-4FF6-8E52-4F988C1A9140}" type="presOf" srcId="{77F063FF-2CB2-46D8-B020-9552F7C84587}" destId="{70E19C09-A820-4EE1-B758-0084375E9BED}" srcOrd="0" destOrd="0" presId="urn:microsoft.com/office/officeart/2018/5/layout/IconLeafLabelList"/>
    <dgm:cxn modelId="{DBE5CA22-3FA3-4437-A2C8-9EFDAF4E2609}" srcId="{DB7C7753-0BBE-4802-B52B-8B4BE29AF792}" destId="{F80B071D-E11A-4204-84DD-2BAAA15FE5E1}" srcOrd="1" destOrd="0" parTransId="{27E40382-75DB-4016-B182-62678222964B}" sibTransId="{41E70D0D-E46D-4C10-9322-AF77ADEA199B}"/>
    <dgm:cxn modelId="{F054C52E-1A7D-4629-AAC0-4C18BFF1CFF3}" type="presOf" srcId="{F80B071D-E11A-4204-84DD-2BAAA15FE5E1}" destId="{F2C025BD-290F-4EFC-A701-E394E87AD8ED}" srcOrd="0" destOrd="0" presId="urn:microsoft.com/office/officeart/2018/5/layout/IconLeafLabelList"/>
    <dgm:cxn modelId="{0D0A31C7-DE45-4309-9B33-F1FB2B1DF142}" type="presOf" srcId="{FEED1FE1-1779-4181-9438-59642A469B40}" destId="{0720C279-8775-4F91-B10D-B090A72C8CD6}" srcOrd="0" destOrd="0" presId="urn:microsoft.com/office/officeart/2018/5/layout/IconLeafLabelList"/>
    <dgm:cxn modelId="{9912EEC8-286E-4BD5-86A2-5B38F5D23249}" srcId="{DB7C7753-0BBE-4802-B52B-8B4BE29AF792}" destId="{FEED1FE1-1779-4181-9438-59642A469B40}" srcOrd="2" destOrd="0" parTransId="{0BE7180E-CE58-4266-81D1-A166DAE84BBF}" sibTransId="{201DFBC3-CA70-4334-9C1A-A23D34C57004}"/>
    <dgm:cxn modelId="{40C3CDE2-ED07-46F6-B7DD-254FE8F852AF}" type="presOf" srcId="{DB7C7753-0BBE-4802-B52B-8B4BE29AF792}" destId="{80F1CEDE-3598-4F53-BA45-E4996140B603}" srcOrd="0" destOrd="0" presId="urn:microsoft.com/office/officeart/2018/5/layout/IconLeafLabelList"/>
    <dgm:cxn modelId="{5612BE55-91FB-434F-8A8A-AE9219AC3743}" type="presParOf" srcId="{80F1CEDE-3598-4F53-BA45-E4996140B603}" destId="{7F79FA3A-5995-49E1-9658-19B0DF4D339E}" srcOrd="0" destOrd="0" presId="urn:microsoft.com/office/officeart/2018/5/layout/IconLeafLabelList"/>
    <dgm:cxn modelId="{D8CD609A-4165-4A64-9CEA-A5D34180545F}" type="presParOf" srcId="{7F79FA3A-5995-49E1-9658-19B0DF4D339E}" destId="{0F3F4987-A22E-4CE0-9CF2-083668E1EA5B}" srcOrd="0" destOrd="0" presId="urn:microsoft.com/office/officeart/2018/5/layout/IconLeafLabelList"/>
    <dgm:cxn modelId="{B30858F3-C4D1-4505-A568-DC6F73C4BB34}" type="presParOf" srcId="{7F79FA3A-5995-49E1-9658-19B0DF4D339E}" destId="{91061C75-40BF-40D8-9A37-662AB04C8BF1}" srcOrd="1" destOrd="0" presId="urn:microsoft.com/office/officeart/2018/5/layout/IconLeafLabelList"/>
    <dgm:cxn modelId="{76117F51-D83A-432D-9726-3691B98A9008}" type="presParOf" srcId="{7F79FA3A-5995-49E1-9658-19B0DF4D339E}" destId="{D4E8C1FD-8404-4EBA-B39A-A2A4A84C5194}" srcOrd="2" destOrd="0" presId="urn:microsoft.com/office/officeart/2018/5/layout/IconLeafLabelList"/>
    <dgm:cxn modelId="{C7889EC0-DAEE-43A9-B02E-53F48B339B75}" type="presParOf" srcId="{7F79FA3A-5995-49E1-9658-19B0DF4D339E}" destId="{70E19C09-A820-4EE1-B758-0084375E9BED}" srcOrd="3" destOrd="0" presId="urn:microsoft.com/office/officeart/2018/5/layout/IconLeafLabelList"/>
    <dgm:cxn modelId="{149B0061-E4D2-4952-A5AA-B757E1FE73F4}" type="presParOf" srcId="{80F1CEDE-3598-4F53-BA45-E4996140B603}" destId="{88EF5814-DAA2-4C66-9022-D2D686BBB17B}" srcOrd="1" destOrd="0" presId="urn:microsoft.com/office/officeart/2018/5/layout/IconLeafLabelList"/>
    <dgm:cxn modelId="{EAB9233F-3349-4A6C-99FD-2A423B25829A}" type="presParOf" srcId="{80F1CEDE-3598-4F53-BA45-E4996140B603}" destId="{A1F73664-D08A-4820-9906-53BE07663372}" srcOrd="2" destOrd="0" presId="urn:microsoft.com/office/officeart/2018/5/layout/IconLeafLabelList"/>
    <dgm:cxn modelId="{B06C5DB9-E9FA-4105-BB25-0C175183DF82}" type="presParOf" srcId="{A1F73664-D08A-4820-9906-53BE07663372}" destId="{A7BE3273-8559-4AC8-B217-1542E1A90C21}" srcOrd="0" destOrd="0" presId="urn:microsoft.com/office/officeart/2018/5/layout/IconLeafLabelList"/>
    <dgm:cxn modelId="{8D7A4A55-3A9B-4C9D-ACCB-49380C5C9C8F}" type="presParOf" srcId="{A1F73664-D08A-4820-9906-53BE07663372}" destId="{46A59BC6-BE24-468A-8DC1-DD507DD26445}" srcOrd="1" destOrd="0" presId="urn:microsoft.com/office/officeart/2018/5/layout/IconLeafLabelList"/>
    <dgm:cxn modelId="{CC2AD958-79FE-4772-9992-118FB1C68C14}" type="presParOf" srcId="{A1F73664-D08A-4820-9906-53BE07663372}" destId="{309C20C0-91B2-46D7-888E-A426F00CD85D}" srcOrd="2" destOrd="0" presId="urn:microsoft.com/office/officeart/2018/5/layout/IconLeafLabelList"/>
    <dgm:cxn modelId="{65FD2436-13A5-41C8-A909-B315CDCC8FF5}" type="presParOf" srcId="{A1F73664-D08A-4820-9906-53BE07663372}" destId="{F2C025BD-290F-4EFC-A701-E394E87AD8ED}" srcOrd="3" destOrd="0" presId="urn:microsoft.com/office/officeart/2018/5/layout/IconLeafLabelList"/>
    <dgm:cxn modelId="{A326C0A5-36CB-46CA-884F-363DEAD729B1}" type="presParOf" srcId="{80F1CEDE-3598-4F53-BA45-E4996140B603}" destId="{7B060A4B-D77A-4F76-A7E7-866CFE597781}" srcOrd="3" destOrd="0" presId="urn:microsoft.com/office/officeart/2018/5/layout/IconLeafLabelList"/>
    <dgm:cxn modelId="{044995F9-F4C8-4F3F-B195-9E8C45572A2D}" type="presParOf" srcId="{80F1CEDE-3598-4F53-BA45-E4996140B603}" destId="{CA12E423-F0E9-4D29-AD5E-91F6314BE398}" srcOrd="4" destOrd="0" presId="urn:microsoft.com/office/officeart/2018/5/layout/IconLeafLabelList"/>
    <dgm:cxn modelId="{9280FE9B-BEB2-430B-B2A4-708E66C8C786}" type="presParOf" srcId="{CA12E423-F0E9-4D29-AD5E-91F6314BE398}" destId="{9B4E40D5-51E1-4E11-BBAB-D906E6FD285E}" srcOrd="0" destOrd="0" presId="urn:microsoft.com/office/officeart/2018/5/layout/IconLeafLabelList"/>
    <dgm:cxn modelId="{C1727505-66EB-4F51-9D45-98FD7102E400}" type="presParOf" srcId="{CA12E423-F0E9-4D29-AD5E-91F6314BE398}" destId="{BCB927DD-1C45-4463-B72F-24AA14E2022F}" srcOrd="1" destOrd="0" presId="urn:microsoft.com/office/officeart/2018/5/layout/IconLeafLabelList"/>
    <dgm:cxn modelId="{4C129520-E57F-41C2-A7FF-CD17CB238F8F}" type="presParOf" srcId="{CA12E423-F0E9-4D29-AD5E-91F6314BE398}" destId="{34BDE579-61D0-406F-ACC1-D0A662A90A77}" srcOrd="2" destOrd="0" presId="urn:microsoft.com/office/officeart/2018/5/layout/IconLeafLabelList"/>
    <dgm:cxn modelId="{9EF09AA2-3248-48A4-AD6E-A709CE3BF007}" type="presParOf" srcId="{CA12E423-F0E9-4D29-AD5E-91F6314BE398}" destId="{0720C279-8775-4F91-B10D-B090A72C8CD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EB9FCA-97A7-4987-8F79-304860026C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1DBE09-257B-4CC7-8E9C-351FEAC534F3}">
      <dgm:prSet/>
      <dgm:spPr/>
      <dgm:t>
        <a:bodyPr/>
        <a:lstStyle/>
        <a:p>
          <a:r>
            <a:rPr lang="en-US"/>
            <a:t>• AAPL and MSFT plotted together</a:t>
          </a:r>
        </a:p>
      </dgm:t>
    </dgm:pt>
    <dgm:pt modelId="{8002DC53-58EC-458A-8715-154B1CE4C859}" type="parTrans" cxnId="{B91B7776-7D54-4C5E-BD40-E87C3C6B9012}">
      <dgm:prSet/>
      <dgm:spPr/>
      <dgm:t>
        <a:bodyPr/>
        <a:lstStyle/>
        <a:p>
          <a:endParaRPr lang="en-US"/>
        </a:p>
      </dgm:t>
    </dgm:pt>
    <dgm:pt modelId="{AD84EEEA-4E78-4F72-B396-F88A3C19A644}" type="sibTrans" cxnId="{B91B7776-7D54-4C5E-BD40-E87C3C6B9012}">
      <dgm:prSet/>
      <dgm:spPr/>
      <dgm:t>
        <a:bodyPr/>
        <a:lstStyle/>
        <a:p>
          <a:endParaRPr lang="en-US"/>
        </a:p>
      </dgm:t>
    </dgm:pt>
    <dgm:pt modelId="{A612D455-6DF2-41CF-AA60-13D6E5994EC9}">
      <dgm:prSet/>
      <dgm:spPr/>
      <dgm:t>
        <a:bodyPr/>
        <a:lstStyle/>
        <a:p>
          <a:r>
            <a:rPr lang="en-US"/>
            <a:t>• Allows visual comparison of performance</a:t>
          </a:r>
        </a:p>
      </dgm:t>
    </dgm:pt>
    <dgm:pt modelId="{B12F79AD-F9D5-4DFD-88A2-04B0DC80452F}" type="parTrans" cxnId="{541B93E9-B960-4A7A-8F2D-1DE402C1F6FC}">
      <dgm:prSet/>
      <dgm:spPr/>
      <dgm:t>
        <a:bodyPr/>
        <a:lstStyle/>
        <a:p>
          <a:endParaRPr lang="en-US"/>
        </a:p>
      </dgm:t>
    </dgm:pt>
    <dgm:pt modelId="{376707DB-4166-4839-81C8-DF17BA01FFAD}" type="sibTrans" cxnId="{541B93E9-B960-4A7A-8F2D-1DE402C1F6FC}">
      <dgm:prSet/>
      <dgm:spPr/>
      <dgm:t>
        <a:bodyPr/>
        <a:lstStyle/>
        <a:p>
          <a:endParaRPr lang="en-US"/>
        </a:p>
      </dgm:t>
    </dgm:pt>
    <dgm:pt modelId="{3EEC979F-0A4A-4D7A-9E6A-7B1228ACAE63}">
      <dgm:prSet/>
      <dgm:spPr/>
      <dgm:t>
        <a:bodyPr/>
        <a:lstStyle/>
        <a:p>
          <a:r>
            <a:rPr lang="en-US"/>
            <a:t>• Shows divergence/convergence of stock movements</a:t>
          </a:r>
        </a:p>
      </dgm:t>
    </dgm:pt>
    <dgm:pt modelId="{53F88033-FC05-4578-BCE6-4A1BB61225C2}" type="parTrans" cxnId="{434554A0-5548-4871-BD81-B60D36EC38D0}">
      <dgm:prSet/>
      <dgm:spPr/>
      <dgm:t>
        <a:bodyPr/>
        <a:lstStyle/>
        <a:p>
          <a:endParaRPr lang="en-US"/>
        </a:p>
      </dgm:t>
    </dgm:pt>
    <dgm:pt modelId="{1FC0E795-09E2-492E-8A7F-74114FF0048A}" type="sibTrans" cxnId="{434554A0-5548-4871-BD81-B60D36EC38D0}">
      <dgm:prSet/>
      <dgm:spPr/>
      <dgm:t>
        <a:bodyPr/>
        <a:lstStyle/>
        <a:p>
          <a:endParaRPr lang="en-US"/>
        </a:p>
      </dgm:t>
    </dgm:pt>
    <dgm:pt modelId="{8B5A5384-CFEF-4AF6-BFE6-9C1B9C3F14C8}" type="pres">
      <dgm:prSet presAssocID="{CDEB9FCA-97A7-4987-8F79-304860026CA0}" presName="linear" presStyleCnt="0">
        <dgm:presLayoutVars>
          <dgm:animLvl val="lvl"/>
          <dgm:resizeHandles val="exact"/>
        </dgm:presLayoutVars>
      </dgm:prSet>
      <dgm:spPr/>
    </dgm:pt>
    <dgm:pt modelId="{AD9A69BB-9AED-4F99-8C08-43D5642EA39A}" type="pres">
      <dgm:prSet presAssocID="{541DBE09-257B-4CC7-8E9C-351FEAC534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F292EB-5CB7-49AF-879B-82AC86B19047}" type="pres">
      <dgm:prSet presAssocID="{AD84EEEA-4E78-4F72-B396-F88A3C19A644}" presName="spacer" presStyleCnt="0"/>
      <dgm:spPr/>
    </dgm:pt>
    <dgm:pt modelId="{B689BB93-9438-48E3-9279-7862D6C7F307}" type="pres">
      <dgm:prSet presAssocID="{A612D455-6DF2-41CF-AA60-13D6E5994E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237D8D-DA97-4295-9194-1CE16303DB9A}" type="pres">
      <dgm:prSet presAssocID="{376707DB-4166-4839-81C8-DF17BA01FFAD}" presName="spacer" presStyleCnt="0"/>
      <dgm:spPr/>
    </dgm:pt>
    <dgm:pt modelId="{8F7DD841-000D-40A6-84B8-7D5DFB98B45D}" type="pres">
      <dgm:prSet presAssocID="{3EEC979F-0A4A-4D7A-9E6A-7B1228ACAE6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625B20-44AE-48AA-BD4B-7C47B6CEA784}" type="presOf" srcId="{3EEC979F-0A4A-4D7A-9E6A-7B1228ACAE63}" destId="{8F7DD841-000D-40A6-84B8-7D5DFB98B45D}" srcOrd="0" destOrd="0" presId="urn:microsoft.com/office/officeart/2005/8/layout/vList2"/>
    <dgm:cxn modelId="{BEA8F937-B9FC-4013-9556-3B9EAB9DFAC0}" type="presOf" srcId="{A612D455-6DF2-41CF-AA60-13D6E5994EC9}" destId="{B689BB93-9438-48E3-9279-7862D6C7F307}" srcOrd="0" destOrd="0" presId="urn:microsoft.com/office/officeart/2005/8/layout/vList2"/>
    <dgm:cxn modelId="{B91B7776-7D54-4C5E-BD40-E87C3C6B9012}" srcId="{CDEB9FCA-97A7-4987-8F79-304860026CA0}" destId="{541DBE09-257B-4CC7-8E9C-351FEAC534F3}" srcOrd="0" destOrd="0" parTransId="{8002DC53-58EC-458A-8715-154B1CE4C859}" sibTransId="{AD84EEEA-4E78-4F72-B396-F88A3C19A644}"/>
    <dgm:cxn modelId="{434554A0-5548-4871-BD81-B60D36EC38D0}" srcId="{CDEB9FCA-97A7-4987-8F79-304860026CA0}" destId="{3EEC979F-0A4A-4D7A-9E6A-7B1228ACAE63}" srcOrd="2" destOrd="0" parTransId="{53F88033-FC05-4578-BCE6-4A1BB61225C2}" sibTransId="{1FC0E795-09E2-492E-8A7F-74114FF0048A}"/>
    <dgm:cxn modelId="{A17FB9B9-DDCD-4FDC-9F02-C094DD3B2F8B}" type="presOf" srcId="{CDEB9FCA-97A7-4987-8F79-304860026CA0}" destId="{8B5A5384-CFEF-4AF6-BFE6-9C1B9C3F14C8}" srcOrd="0" destOrd="0" presId="urn:microsoft.com/office/officeart/2005/8/layout/vList2"/>
    <dgm:cxn modelId="{541B93E9-B960-4A7A-8F2D-1DE402C1F6FC}" srcId="{CDEB9FCA-97A7-4987-8F79-304860026CA0}" destId="{A612D455-6DF2-41CF-AA60-13D6E5994EC9}" srcOrd="1" destOrd="0" parTransId="{B12F79AD-F9D5-4DFD-88A2-04B0DC80452F}" sibTransId="{376707DB-4166-4839-81C8-DF17BA01FFAD}"/>
    <dgm:cxn modelId="{FF61EAF4-E419-4DC7-A970-4186AC5C8C16}" type="presOf" srcId="{541DBE09-257B-4CC7-8E9C-351FEAC534F3}" destId="{AD9A69BB-9AED-4F99-8C08-43D5642EA39A}" srcOrd="0" destOrd="0" presId="urn:microsoft.com/office/officeart/2005/8/layout/vList2"/>
    <dgm:cxn modelId="{2B920FEF-FF91-4A18-ACDB-E014E5A24E9F}" type="presParOf" srcId="{8B5A5384-CFEF-4AF6-BFE6-9C1B9C3F14C8}" destId="{AD9A69BB-9AED-4F99-8C08-43D5642EA39A}" srcOrd="0" destOrd="0" presId="urn:microsoft.com/office/officeart/2005/8/layout/vList2"/>
    <dgm:cxn modelId="{119C3179-329D-45D2-9A7C-620926FB3043}" type="presParOf" srcId="{8B5A5384-CFEF-4AF6-BFE6-9C1B9C3F14C8}" destId="{73F292EB-5CB7-49AF-879B-82AC86B19047}" srcOrd="1" destOrd="0" presId="urn:microsoft.com/office/officeart/2005/8/layout/vList2"/>
    <dgm:cxn modelId="{C9F2B689-4E97-43C6-A4A8-94492F7E4BFA}" type="presParOf" srcId="{8B5A5384-CFEF-4AF6-BFE6-9C1B9C3F14C8}" destId="{B689BB93-9438-48E3-9279-7862D6C7F307}" srcOrd="2" destOrd="0" presId="urn:microsoft.com/office/officeart/2005/8/layout/vList2"/>
    <dgm:cxn modelId="{61F8F99C-D8B6-4D43-B0B1-E27F540AE3C9}" type="presParOf" srcId="{8B5A5384-CFEF-4AF6-BFE6-9C1B9C3F14C8}" destId="{52237D8D-DA97-4295-9194-1CE16303DB9A}" srcOrd="3" destOrd="0" presId="urn:microsoft.com/office/officeart/2005/8/layout/vList2"/>
    <dgm:cxn modelId="{9B79106F-DCE2-4351-8739-EF74F6C28C5E}" type="presParOf" srcId="{8B5A5384-CFEF-4AF6-BFE6-9C1B9C3F14C8}" destId="{8F7DD841-000D-40A6-84B8-7D5DFB98B45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F2EF5F-1CE6-474F-95D7-9F531C824B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7D9CF1-29B2-4420-952A-17DF4B0FA8B8}">
      <dgm:prSet/>
      <dgm:spPr/>
      <dgm:t>
        <a:bodyPr/>
        <a:lstStyle/>
        <a:p>
          <a:r>
            <a:rPr lang="en-US"/>
            <a:t>• Stock return &amp; volatility provide risk profile</a:t>
          </a:r>
        </a:p>
      </dgm:t>
    </dgm:pt>
    <dgm:pt modelId="{6F6486FE-2C7E-4E08-8AF5-CD25C2A7CF96}" type="parTrans" cxnId="{F90AB7B7-5DB6-40ED-A67D-570D96313824}">
      <dgm:prSet/>
      <dgm:spPr/>
      <dgm:t>
        <a:bodyPr/>
        <a:lstStyle/>
        <a:p>
          <a:endParaRPr lang="en-US"/>
        </a:p>
      </dgm:t>
    </dgm:pt>
    <dgm:pt modelId="{96730DB4-734A-439A-BD9E-6A3551F9D23D}" type="sibTrans" cxnId="{F90AB7B7-5DB6-40ED-A67D-570D96313824}">
      <dgm:prSet/>
      <dgm:spPr/>
      <dgm:t>
        <a:bodyPr/>
        <a:lstStyle/>
        <a:p>
          <a:endParaRPr lang="en-US"/>
        </a:p>
      </dgm:t>
    </dgm:pt>
    <dgm:pt modelId="{0845C241-C64B-4299-AA53-97E3975F8EF4}">
      <dgm:prSet/>
      <dgm:spPr/>
      <dgm:t>
        <a:bodyPr/>
        <a:lstStyle/>
        <a:p>
          <a:r>
            <a:rPr lang="en-US"/>
            <a:t>• Correlations show diversification opportunities</a:t>
          </a:r>
        </a:p>
      </dgm:t>
    </dgm:pt>
    <dgm:pt modelId="{C09B816C-4787-472B-ACDA-4C6F8E0D5227}" type="parTrans" cxnId="{D9185223-B387-43AF-B265-A0FD8294FA14}">
      <dgm:prSet/>
      <dgm:spPr/>
      <dgm:t>
        <a:bodyPr/>
        <a:lstStyle/>
        <a:p>
          <a:endParaRPr lang="en-US"/>
        </a:p>
      </dgm:t>
    </dgm:pt>
    <dgm:pt modelId="{FAFAD40C-2EA1-478F-8589-89FB34BA13DF}" type="sibTrans" cxnId="{D9185223-B387-43AF-B265-A0FD8294FA14}">
      <dgm:prSet/>
      <dgm:spPr/>
      <dgm:t>
        <a:bodyPr/>
        <a:lstStyle/>
        <a:p>
          <a:endParaRPr lang="en-US"/>
        </a:p>
      </dgm:t>
    </dgm:pt>
    <dgm:pt modelId="{AC663C14-360D-420A-8E2F-93E1B24441F1}">
      <dgm:prSet/>
      <dgm:spPr/>
      <dgm:t>
        <a:bodyPr/>
        <a:lstStyle/>
        <a:p>
          <a:r>
            <a:rPr lang="en-US"/>
            <a:t>• Visualizations uncover price trends and patterns</a:t>
          </a:r>
        </a:p>
      </dgm:t>
    </dgm:pt>
    <dgm:pt modelId="{D2195E2C-B526-4F8B-9D8F-ECF5133699C5}" type="parTrans" cxnId="{193A994F-E0A7-44F7-B15D-5BF319456FB7}">
      <dgm:prSet/>
      <dgm:spPr/>
      <dgm:t>
        <a:bodyPr/>
        <a:lstStyle/>
        <a:p>
          <a:endParaRPr lang="en-US"/>
        </a:p>
      </dgm:t>
    </dgm:pt>
    <dgm:pt modelId="{72C62D2F-0F83-4949-BDC3-6401611580A5}" type="sibTrans" cxnId="{193A994F-E0A7-44F7-B15D-5BF319456FB7}">
      <dgm:prSet/>
      <dgm:spPr/>
      <dgm:t>
        <a:bodyPr/>
        <a:lstStyle/>
        <a:p>
          <a:endParaRPr lang="en-US"/>
        </a:p>
      </dgm:t>
    </dgm:pt>
    <dgm:pt modelId="{ECA04970-4BEE-4244-8AE8-A02168288A4A}">
      <dgm:prSet/>
      <dgm:spPr/>
      <dgm:t>
        <a:bodyPr/>
        <a:lstStyle/>
        <a:p>
          <a:r>
            <a:rPr lang="en-US"/>
            <a:t>• Framework supports deeper financial analysis</a:t>
          </a:r>
        </a:p>
      </dgm:t>
    </dgm:pt>
    <dgm:pt modelId="{E143D6CB-0252-401F-A961-27D02DEB36C2}" type="parTrans" cxnId="{EAB43FE4-2989-482E-84EB-DF53EDA54ACD}">
      <dgm:prSet/>
      <dgm:spPr/>
      <dgm:t>
        <a:bodyPr/>
        <a:lstStyle/>
        <a:p>
          <a:endParaRPr lang="en-US"/>
        </a:p>
      </dgm:t>
    </dgm:pt>
    <dgm:pt modelId="{5979060F-BC9F-4051-AE8A-8A9096FA63E9}" type="sibTrans" cxnId="{EAB43FE4-2989-482E-84EB-DF53EDA54ACD}">
      <dgm:prSet/>
      <dgm:spPr/>
      <dgm:t>
        <a:bodyPr/>
        <a:lstStyle/>
        <a:p>
          <a:endParaRPr lang="en-US"/>
        </a:p>
      </dgm:t>
    </dgm:pt>
    <dgm:pt modelId="{279E369F-627D-47F9-A12B-9A5DFCDC162E}" type="pres">
      <dgm:prSet presAssocID="{3EF2EF5F-1CE6-474F-95D7-9F531C824B25}" presName="linear" presStyleCnt="0">
        <dgm:presLayoutVars>
          <dgm:animLvl val="lvl"/>
          <dgm:resizeHandles val="exact"/>
        </dgm:presLayoutVars>
      </dgm:prSet>
      <dgm:spPr/>
    </dgm:pt>
    <dgm:pt modelId="{3DCEE825-4786-4AE7-957E-335545AFF44F}" type="pres">
      <dgm:prSet presAssocID="{B07D9CF1-29B2-4420-952A-17DF4B0FA8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9345FF-04C7-407D-A616-CE3CB7E7B4BD}" type="pres">
      <dgm:prSet presAssocID="{96730DB4-734A-439A-BD9E-6A3551F9D23D}" presName="spacer" presStyleCnt="0"/>
      <dgm:spPr/>
    </dgm:pt>
    <dgm:pt modelId="{E73A1E1D-4E34-47DD-9190-C47E88E64797}" type="pres">
      <dgm:prSet presAssocID="{0845C241-C64B-4299-AA53-97E3975F8EF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1EF446-7C95-4509-AAD0-0F7EA523BC3E}" type="pres">
      <dgm:prSet presAssocID="{FAFAD40C-2EA1-478F-8589-89FB34BA13DF}" presName="spacer" presStyleCnt="0"/>
      <dgm:spPr/>
    </dgm:pt>
    <dgm:pt modelId="{8A2FD9F8-685D-4423-8D1B-EDCE429CF4FE}" type="pres">
      <dgm:prSet presAssocID="{AC663C14-360D-420A-8E2F-93E1B24441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77B3449-03C1-40FB-BD5A-EEF92F64FD80}" type="pres">
      <dgm:prSet presAssocID="{72C62D2F-0F83-4949-BDC3-6401611580A5}" presName="spacer" presStyleCnt="0"/>
      <dgm:spPr/>
    </dgm:pt>
    <dgm:pt modelId="{04C4E8FF-B2FB-4883-AA67-BC4431C565ED}" type="pres">
      <dgm:prSet presAssocID="{ECA04970-4BEE-4244-8AE8-A02168288A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9CFB1C-68A4-49C1-BDD7-7F32D42C60B3}" type="presOf" srcId="{ECA04970-4BEE-4244-8AE8-A02168288A4A}" destId="{04C4E8FF-B2FB-4883-AA67-BC4431C565ED}" srcOrd="0" destOrd="0" presId="urn:microsoft.com/office/officeart/2005/8/layout/vList2"/>
    <dgm:cxn modelId="{D9185223-B387-43AF-B265-A0FD8294FA14}" srcId="{3EF2EF5F-1CE6-474F-95D7-9F531C824B25}" destId="{0845C241-C64B-4299-AA53-97E3975F8EF4}" srcOrd="1" destOrd="0" parTransId="{C09B816C-4787-472B-ACDA-4C6F8E0D5227}" sibTransId="{FAFAD40C-2EA1-478F-8589-89FB34BA13DF}"/>
    <dgm:cxn modelId="{DB210035-ABD2-4BB2-9A9B-77AB8DEF4D07}" type="presOf" srcId="{0845C241-C64B-4299-AA53-97E3975F8EF4}" destId="{E73A1E1D-4E34-47DD-9190-C47E88E64797}" srcOrd="0" destOrd="0" presId="urn:microsoft.com/office/officeart/2005/8/layout/vList2"/>
    <dgm:cxn modelId="{193A994F-E0A7-44F7-B15D-5BF319456FB7}" srcId="{3EF2EF5F-1CE6-474F-95D7-9F531C824B25}" destId="{AC663C14-360D-420A-8E2F-93E1B24441F1}" srcOrd="2" destOrd="0" parTransId="{D2195E2C-B526-4F8B-9D8F-ECF5133699C5}" sibTransId="{72C62D2F-0F83-4949-BDC3-6401611580A5}"/>
    <dgm:cxn modelId="{99F35953-5954-483D-8372-7E4648B27B9C}" type="presOf" srcId="{3EF2EF5F-1CE6-474F-95D7-9F531C824B25}" destId="{279E369F-627D-47F9-A12B-9A5DFCDC162E}" srcOrd="0" destOrd="0" presId="urn:microsoft.com/office/officeart/2005/8/layout/vList2"/>
    <dgm:cxn modelId="{F90AB7B7-5DB6-40ED-A67D-570D96313824}" srcId="{3EF2EF5F-1CE6-474F-95D7-9F531C824B25}" destId="{B07D9CF1-29B2-4420-952A-17DF4B0FA8B8}" srcOrd="0" destOrd="0" parTransId="{6F6486FE-2C7E-4E08-8AF5-CD25C2A7CF96}" sibTransId="{96730DB4-734A-439A-BD9E-6A3551F9D23D}"/>
    <dgm:cxn modelId="{F0958EDC-2897-4573-A038-DE04CDE724EA}" type="presOf" srcId="{B07D9CF1-29B2-4420-952A-17DF4B0FA8B8}" destId="{3DCEE825-4786-4AE7-957E-335545AFF44F}" srcOrd="0" destOrd="0" presId="urn:microsoft.com/office/officeart/2005/8/layout/vList2"/>
    <dgm:cxn modelId="{EAB43FE4-2989-482E-84EB-DF53EDA54ACD}" srcId="{3EF2EF5F-1CE6-474F-95D7-9F531C824B25}" destId="{ECA04970-4BEE-4244-8AE8-A02168288A4A}" srcOrd="3" destOrd="0" parTransId="{E143D6CB-0252-401F-A961-27D02DEB36C2}" sibTransId="{5979060F-BC9F-4051-AE8A-8A9096FA63E9}"/>
    <dgm:cxn modelId="{935925ED-F333-49B7-9E58-3F47AA53863B}" type="presOf" srcId="{AC663C14-360D-420A-8E2F-93E1B24441F1}" destId="{8A2FD9F8-685D-4423-8D1B-EDCE429CF4FE}" srcOrd="0" destOrd="0" presId="urn:microsoft.com/office/officeart/2005/8/layout/vList2"/>
    <dgm:cxn modelId="{7890183F-D7A1-4DFA-A190-0E4613328207}" type="presParOf" srcId="{279E369F-627D-47F9-A12B-9A5DFCDC162E}" destId="{3DCEE825-4786-4AE7-957E-335545AFF44F}" srcOrd="0" destOrd="0" presId="urn:microsoft.com/office/officeart/2005/8/layout/vList2"/>
    <dgm:cxn modelId="{C9DE50E8-539C-4492-8A56-2A56C6FA953F}" type="presParOf" srcId="{279E369F-627D-47F9-A12B-9A5DFCDC162E}" destId="{799345FF-04C7-407D-A616-CE3CB7E7B4BD}" srcOrd="1" destOrd="0" presId="urn:microsoft.com/office/officeart/2005/8/layout/vList2"/>
    <dgm:cxn modelId="{A9B354EE-EEDE-4EF0-81A6-A73A2FDC9C37}" type="presParOf" srcId="{279E369F-627D-47F9-A12B-9A5DFCDC162E}" destId="{E73A1E1D-4E34-47DD-9190-C47E88E64797}" srcOrd="2" destOrd="0" presId="urn:microsoft.com/office/officeart/2005/8/layout/vList2"/>
    <dgm:cxn modelId="{48422BB2-64C6-4CEE-951B-3903C2D15FBB}" type="presParOf" srcId="{279E369F-627D-47F9-A12B-9A5DFCDC162E}" destId="{A31EF446-7C95-4509-AAD0-0F7EA523BC3E}" srcOrd="3" destOrd="0" presId="urn:microsoft.com/office/officeart/2005/8/layout/vList2"/>
    <dgm:cxn modelId="{85093089-2684-4F68-808F-91767F0E31BC}" type="presParOf" srcId="{279E369F-627D-47F9-A12B-9A5DFCDC162E}" destId="{8A2FD9F8-685D-4423-8D1B-EDCE429CF4FE}" srcOrd="4" destOrd="0" presId="urn:microsoft.com/office/officeart/2005/8/layout/vList2"/>
    <dgm:cxn modelId="{EAF0CBEC-26D5-4527-A8CC-614F7290121B}" type="presParOf" srcId="{279E369F-627D-47F9-A12B-9A5DFCDC162E}" destId="{D77B3449-03C1-40FB-BD5A-EEF92F64FD80}" srcOrd="5" destOrd="0" presId="urn:microsoft.com/office/officeart/2005/8/layout/vList2"/>
    <dgm:cxn modelId="{AE6CCE64-DCE7-4AFB-8B1E-EB2BC4D847C3}" type="presParOf" srcId="{279E369F-627D-47F9-A12B-9A5DFCDC162E}" destId="{04C4E8FF-B2FB-4883-AA67-BC4431C565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42C59-8398-48B6-A3CE-DA22F66481B5}">
      <dsp:nvSpPr>
        <dsp:cNvPr id="0" name=""/>
        <dsp:cNvSpPr/>
      </dsp:nvSpPr>
      <dsp:spPr>
        <a:xfrm>
          <a:off x="0" y="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Daily returns computed using pct_change</a:t>
          </a:r>
        </a:p>
      </dsp:txBody>
      <dsp:txXfrm>
        <a:off x="31710" y="31710"/>
        <a:ext cx="2125408" cy="1019255"/>
      </dsp:txXfrm>
    </dsp:sp>
    <dsp:sp modelId="{450FA388-1F30-4079-8D8E-86186C188542}">
      <dsp:nvSpPr>
        <dsp:cNvPr id="0" name=""/>
        <dsp:cNvSpPr/>
      </dsp:nvSpPr>
      <dsp:spPr>
        <a:xfrm>
          <a:off x="283509" y="127952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Annualized mean returns = daily_mean × 252</a:t>
          </a:r>
        </a:p>
      </dsp:txBody>
      <dsp:txXfrm>
        <a:off x="315219" y="1311235"/>
        <a:ext cx="2334516" cy="1019255"/>
      </dsp:txXfrm>
    </dsp:sp>
    <dsp:sp modelId="{FD421647-3247-4B97-8108-6172C60B4C00}">
      <dsp:nvSpPr>
        <dsp:cNvPr id="0" name=""/>
        <dsp:cNvSpPr/>
      </dsp:nvSpPr>
      <dsp:spPr>
        <a:xfrm>
          <a:off x="562786" y="255905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Annualized volatility = std × sqrt(252)</a:t>
          </a:r>
        </a:p>
      </dsp:txBody>
      <dsp:txXfrm>
        <a:off x="594496" y="2590760"/>
        <a:ext cx="2338748" cy="1019255"/>
      </dsp:txXfrm>
    </dsp:sp>
    <dsp:sp modelId="{8BB5077C-D409-4624-AD52-33C09ABD9E84}">
      <dsp:nvSpPr>
        <dsp:cNvPr id="0" name=""/>
        <dsp:cNvSpPr/>
      </dsp:nvSpPr>
      <dsp:spPr>
        <a:xfrm>
          <a:off x="846296" y="383857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Helps assess expected performance and risk</a:t>
          </a:r>
        </a:p>
      </dsp:txBody>
      <dsp:txXfrm>
        <a:off x="878006" y="3870285"/>
        <a:ext cx="2334516" cy="1019255"/>
      </dsp:txXfrm>
    </dsp:sp>
    <dsp:sp modelId="{B3745956-902B-445F-9AA7-5001E841E554}">
      <dsp:nvSpPr>
        <dsp:cNvPr id="0" name=""/>
        <dsp:cNvSpPr/>
      </dsp:nvSpPr>
      <dsp:spPr>
        <a:xfrm>
          <a:off x="2681446" y="82923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839787" y="829230"/>
        <a:ext cx="387056" cy="529563"/>
      </dsp:txXfrm>
    </dsp:sp>
    <dsp:sp modelId="{13D17E06-48A0-4DDF-8270-7C1E0E013D33}">
      <dsp:nvSpPr>
        <dsp:cNvPr id="0" name=""/>
        <dsp:cNvSpPr/>
      </dsp:nvSpPr>
      <dsp:spPr>
        <a:xfrm>
          <a:off x="2964955" y="2108755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123296" y="2108755"/>
        <a:ext cx="387056" cy="529563"/>
      </dsp:txXfrm>
    </dsp:sp>
    <dsp:sp modelId="{C082EC4E-1793-4B0B-A23D-BB81BD3B9BC9}">
      <dsp:nvSpPr>
        <dsp:cNvPr id="0" name=""/>
        <dsp:cNvSpPr/>
      </dsp:nvSpPr>
      <dsp:spPr>
        <a:xfrm>
          <a:off x="3244233" y="338828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402574" y="3388280"/>
        <a:ext cx="387056" cy="529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F4987-A22E-4CE0-9CF2-083668E1EA5B}">
      <dsp:nvSpPr>
        <dsp:cNvPr id="0" name=""/>
        <dsp:cNvSpPr/>
      </dsp:nvSpPr>
      <dsp:spPr>
        <a:xfrm>
          <a:off x="493565" y="11687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61C75-40BF-40D8-9A37-662AB04C8BF1}">
      <dsp:nvSpPr>
        <dsp:cNvPr id="0" name=""/>
        <dsp:cNvSpPr/>
      </dsp:nvSpPr>
      <dsp:spPr>
        <a:xfrm>
          <a:off x="734877" y="252999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19C09-A820-4EE1-B758-0084375E9BED}">
      <dsp:nvSpPr>
        <dsp:cNvPr id="0" name=""/>
        <dsp:cNvSpPr/>
      </dsp:nvSpPr>
      <dsp:spPr>
        <a:xfrm>
          <a:off x="131596" y="1496687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AAPL closing price plotted over time</a:t>
          </a:r>
        </a:p>
      </dsp:txBody>
      <dsp:txXfrm>
        <a:off x="131596" y="1496687"/>
        <a:ext cx="1856250" cy="720000"/>
      </dsp:txXfrm>
    </dsp:sp>
    <dsp:sp modelId="{A7BE3273-8559-4AC8-B217-1542E1A90C21}">
      <dsp:nvSpPr>
        <dsp:cNvPr id="0" name=""/>
        <dsp:cNvSpPr/>
      </dsp:nvSpPr>
      <dsp:spPr>
        <a:xfrm>
          <a:off x="2674659" y="11687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59BC6-BE24-468A-8DC1-DD507DD26445}">
      <dsp:nvSpPr>
        <dsp:cNvPr id="0" name=""/>
        <dsp:cNvSpPr/>
      </dsp:nvSpPr>
      <dsp:spPr>
        <a:xfrm>
          <a:off x="2915971" y="252999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025BD-290F-4EFC-A701-E394E87AD8ED}">
      <dsp:nvSpPr>
        <dsp:cNvPr id="0" name=""/>
        <dsp:cNvSpPr/>
      </dsp:nvSpPr>
      <dsp:spPr>
        <a:xfrm>
          <a:off x="2312690" y="1496687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Identifies market direction and major events</a:t>
          </a:r>
        </a:p>
      </dsp:txBody>
      <dsp:txXfrm>
        <a:off x="2312690" y="1496687"/>
        <a:ext cx="1856250" cy="720000"/>
      </dsp:txXfrm>
    </dsp:sp>
    <dsp:sp modelId="{9B4E40D5-51E1-4E11-BBAB-D906E6FD285E}">
      <dsp:nvSpPr>
        <dsp:cNvPr id="0" name=""/>
        <dsp:cNvSpPr/>
      </dsp:nvSpPr>
      <dsp:spPr>
        <a:xfrm>
          <a:off x="1584112" y="2680749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927DD-1C45-4463-B72F-24AA14E2022F}">
      <dsp:nvSpPr>
        <dsp:cNvPr id="0" name=""/>
        <dsp:cNvSpPr/>
      </dsp:nvSpPr>
      <dsp:spPr>
        <a:xfrm>
          <a:off x="1825424" y="2922062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0C279-8775-4F91-B10D-B090A72C8CD6}">
      <dsp:nvSpPr>
        <dsp:cNvPr id="0" name=""/>
        <dsp:cNvSpPr/>
      </dsp:nvSpPr>
      <dsp:spPr>
        <a:xfrm>
          <a:off x="1222143" y="4165749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Supports trend‑following and technical analysis</a:t>
          </a:r>
        </a:p>
      </dsp:txBody>
      <dsp:txXfrm>
        <a:off x="1222143" y="4165749"/>
        <a:ext cx="185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A69BB-9AED-4F99-8C08-43D5642EA39A}">
      <dsp:nvSpPr>
        <dsp:cNvPr id="0" name=""/>
        <dsp:cNvSpPr/>
      </dsp:nvSpPr>
      <dsp:spPr>
        <a:xfrm>
          <a:off x="0" y="130018"/>
          <a:ext cx="4231481" cy="14961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AAPL and MSFT plotted together</a:t>
          </a:r>
        </a:p>
      </dsp:txBody>
      <dsp:txXfrm>
        <a:off x="73035" y="203053"/>
        <a:ext cx="4085411" cy="1350067"/>
      </dsp:txXfrm>
    </dsp:sp>
    <dsp:sp modelId="{B689BB93-9438-48E3-9279-7862D6C7F307}">
      <dsp:nvSpPr>
        <dsp:cNvPr id="0" name=""/>
        <dsp:cNvSpPr/>
      </dsp:nvSpPr>
      <dsp:spPr>
        <a:xfrm>
          <a:off x="0" y="1712556"/>
          <a:ext cx="4231481" cy="1496137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Allows visual comparison of performance</a:t>
          </a:r>
        </a:p>
      </dsp:txBody>
      <dsp:txXfrm>
        <a:off x="73035" y="1785591"/>
        <a:ext cx="4085411" cy="1350067"/>
      </dsp:txXfrm>
    </dsp:sp>
    <dsp:sp modelId="{8F7DD841-000D-40A6-84B8-7D5DFB98B45D}">
      <dsp:nvSpPr>
        <dsp:cNvPr id="0" name=""/>
        <dsp:cNvSpPr/>
      </dsp:nvSpPr>
      <dsp:spPr>
        <a:xfrm>
          <a:off x="0" y="3295093"/>
          <a:ext cx="4231481" cy="1496137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Shows divergence/convergence of stock movements</a:t>
          </a:r>
        </a:p>
      </dsp:txBody>
      <dsp:txXfrm>
        <a:off x="73035" y="3368128"/>
        <a:ext cx="4085411" cy="13500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EE825-4786-4AE7-957E-335545AFF44F}">
      <dsp:nvSpPr>
        <dsp:cNvPr id="0" name=""/>
        <dsp:cNvSpPr/>
      </dsp:nvSpPr>
      <dsp:spPr>
        <a:xfrm>
          <a:off x="0" y="61308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Stock return &amp; volatility provide risk profile</a:t>
          </a:r>
        </a:p>
      </dsp:txBody>
      <dsp:txXfrm>
        <a:off x="31185" y="644265"/>
        <a:ext cx="7227685" cy="576449"/>
      </dsp:txXfrm>
    </dsp:sp>
    <dsp:sp modelId="{E73A1E1D-4E34-47DD-9190-C47E88E64797}">
      <dsp:nvSpPr>
        <dsp:cNvPr id="0" name=""/>
        <dsp:cNvSpPr/>
      </dsp:nvSpPr>
      <dsp:spPr>
        <a:xfrm>
          <a:off x="0" y="133254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Correlations show diversification opportunities</a:t>
          </a:r>
        </a:p>
      </dsp:txBody>
      <dsp:txXfrm>
        <a:off x="31185" y="1363725"/>
        <a:ext cx="7227685" cy="576449"/>
      </dsp:txXfrm>
    </dsp:sp>
    <dsp:sp modelId="{8A2FD9F8-685D-4423-8D1B-EDCE429CF4FE}">
      <dsp:nvSpPr>
        <dsp:cNvPr id="0" name=""/>
        <dsp:cNvSpPr/>
      </dsp:nvSpPr>
      <dsp:spPr>
        <a:xfrm>
          <a:off x="0" y="205200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Visualizations uncover price trends and patterns</a:t>
          </a:r>
        </a:p>
      </dsp:txBody>
      <dsp:txXfrm>
        <a:off x="31185" y="2083185"/>
        <a:ext cx="7227685" cy="576449"/>
      </dsp:txXfrm>
    </dsp:sp>
    <dsp:sp modelId="{04C4E8FF-B2FB-4883-AA67-BC4431C565ED}">
      <dsp:nvSpPr>
        <dsp:cNvPr id="0" name=""/>
        <dsp:cNvSpPr/>
      </dsp:nvSpPr>
      <dsp:spPr>
        <a:xfrm>
          <a:off x="0" y="277146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Framework supports deeper financial analysis</a:t>
          </a:r>
        </a:p>
      </dsp:txBody>
      <dsp:txXfrm>
        <a:off x="31185" y="2802645"/>
        <a:ext cx="7227685" cy="576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9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9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3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0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0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77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5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0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6CBC06-AFCC-4937-8EA9-F545A2EB0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A9F063B8-8514-3929-C1B8-86DA290E58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2" b="-2"/>
          <a:stretch>
            <a:fillRect/>
          </a:stretch>
        </p:blipFill>
        <p:spPr>
          <a:xfrm>
            <a:off x="20" y="975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Stock Price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r>
              <a:rPr lang="en-GB">
                <a:solidFill>
                  <a:schemeClr val="tx1"/>
                </a:solidFill>
              </a:rPr>
              <a:t>Full Project Report</a:t>
            </a:r>
          </a:p>
          <a:p>
            <a:r>
              <a:rPr lang="en-GB">
                <a:solidFill>
                  <a:schemeClr val="tx1"/>
                </a:solidFill>
              </a:rPr>
              <a:t>Generated by ChatGPT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041084-7D34-40AA-ACA7-1EFFC8212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ck market graph on display">
            <a:extLst>
              <a:ext uri="{FF2B5EF4-FFF2-40B4-BE49-F238E27FC236}">
                <a16:creationId xmlns:a16="http://schemas.microsoft.com/office/drawing/2014/main" id="{8629C45A-3199-9DC5-8236-E3560F8045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22667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Project Overview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CB1430-5CD1-470D-8F0F-7EDE4C79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endParaRPr/>
          </a:p>
          <a:p>
            <a:r>
              <a:t>• Analyze realistic stock price dataset</a:t>
            </a:r>
          </a:p>
          <a:p>
            <a:r>
              <a:t>• Calculate returns, volatility, and correlations</a:t>
            </a:r>
          </a:p>
          <a:p>
            <a:r>
              <a:t>• Visualize AAPL and comparative stock performance</a:t>
            </a:r>
          </a:p>
          <a:p>
            <a:r>
              <a:t>• Support financial insight and risk evaluation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641" y="942449"/>
            <a:ext cx="5010992" cy="1470249"/>
          </a:xfrm>
        </p:spPr>
        <p:txBody>
          <a:bodyPr>
            <a:normAutofit/>
          </a:bodyPr>
          <a:lstStyle/>
          <a:p>
            <a:r>
              <a:t>Dataset Description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48775" y="2573573"/>
            <a:ext cx="4937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282" y="2773885"/>
            <a:ext cx="5007352" cy="3141013"/>
          </a:xfrm>
        </p:spPr>
        <p:txBody>
          <a:bodyPr>
            <a:normAutofit/>
          </a:bodyPr>
          <a:lstStyle/>
          <a:p>
            <a:endParaRPr/>
          </a:p>
          <a:p>
            <a:r>
              <a:t>• CSV file: realistic_stock_prices.csv</a:t>
            </a:r>
          </a:p>
          <a:p>
            <a:r>
              <a:t>• Contains historical adjusted close data</a:t>
            </a:r>
          </a:p>
          <a:p>
            <a:r>
              <a:t>• Includes multiple tickers (e.g., AAPL, MSFT)</a:t>
            </a:r>
          </a:p>
          <a:p>
            <a:r>
              <a:t>• Date indexed for time‑series analysis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Return &amp; Volatility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9D80E01-F6D0-78FA-2F04-AF5376D0E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75280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Correlation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• Correlation matrix computed between stocks</a:t>
            </a:r>
          </a:p>
          <a:p>
            <a:r>
              <a:rPr lang="en-GB">
                <a:solidFill>
                  <a:srgbClr val="FFFFFF"/>
                </a:solidFill>
              </a:rPr>
              <a:t>• Measures relationship strength between assets</a:t>
            </a:r>
          </a:p>
          <a:p>
            <a:r>
              <a:rPr lang="en-GB">
                <a:solidFill>
                  <a:srgbClr val="FFFFFF"/>
                </a:solidFill>
              </a:rPr>
              <a:t>• Useful for portfolio diversification decisions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0"/>
            <a:ext cx="3486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45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AAPL Price Trend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15CB06C-B940-592F-A595-A0C373F72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040735"/>
              </p:ext>
            </p:extLst>
          </p:nvPr>
        </p:nvGraphicFramePr>
        <p:xfrm>
          <a:off x="678656" y="976313"/>
          <a:ext cx="4300537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Multi‑Stock Price Comparison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0D1D48B-E314-85DC-2594-A3D5B28E5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73039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FE672E-9390-A258-5793-2C3DFF859A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216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Stock Price Analysis Report</vt:lpstr>
      <vt:lpstr>Project Overview</vt:lpstr>
      <vt:lpstr>Dataset Description</vt:lpstr>
      <vt:lpstr>Return &amp; Volatility Analysis</vt:lpstr>
      <vt:lpstr>Correlation Analysis</vt:lpstr>
      <vt:lpstr>AAPL Price Trend</vt:lpstr>
      <vt:lpstr>Multi‑Stock Price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2</cp:revision>
  <dcterms:created xsi:type="dcterms:W3CDTF">2013-01-27T09:14:16Z</dcterms:created>
  <dcterms:modified xsi:type="dcterms:W3CDTF">2025-12-03T12:13:38Z</dcterms:modified>
  <cp:category/>
</cp:coreProperties>
</file>